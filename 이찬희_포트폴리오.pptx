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000" y="936000"/>
            <a:ext cx="10969200" cy="360000"/>
          </a:xfrm>
          <a:prstGeom prst="rect">
            <a:avLst/>
          </a:prstGeom>
          <a:noFill/>
        </p:spPr>
        <p:txBody>
          <a:bodyPr wrap="square" lIns="0" rIns="0" tIns="0" bIns="0" anchor="t">
            <a:spAutoFit/>
          </a:bodyPr>
          <a:lstStyle/>
          <a:p>
            <a:pPr algn="ctr">
              <a:lnSpc>
                <a:spcPct val="130000"/>
              </a:lnSpc>
            </a:pPr>
            <a:r>
              <a:rPr sz="1400" b="1">
                <a:solidFill>
                  <a:srgbClr val="8A93A3"/>
                </a:solidFill>
                <a:latin typeface="맑은 고딕"/>
              </a:rPr>
              <a:t>P O R T F O L I O</a:t>
            </a:r>
          </a:p>
        </p:txBody>
      </p:sp>
      <p:sp>
        <p:nvSpPr>
          <p:cNvPr id="3" name="TextBox 2"/>
          <p:cNvSpPr txBox="1"/>
          <p:nvPr/>
        </p:nvSpPr>
        <p:spPr>
          <a:xfrm>
            <a:off x="612000" y="1512000"/>
            <a:ext cx="10969200" cy="1224000"/>
          </a:xfrm>
          <a:prstGeom prst="rect">
            <a:avLst/>
          </a:prstGeom>
          <a:noFill/>
        </p:spPr>
        <p:txBody>
          <a:bodyPr wrap="square" lIns="0" rIns="0" tIns="0" bIns="0" anchor="t">
            <a:spAutoFit/>
          </a:bodyPr>
          <a:lstStyle/>
          <a:p>
            <a:pPr algn="ctr">
              <a:lnSpc>
                <a:spcPct val="150000"/>
              </a:lnSpc>
            </a:pPr>
            <a:r>
              <a:rPr sz="2600" b="1">
                <a:solidFill>
                  <a:srgbClr val="1B1E23"/>
                </a:solidFill>
                <a:latin typeface="맑은 고딕"/>
              </a:rPr>
              <a:t>AI 챗에서 중요한 것은 사용자가 피로감을 느끼지 않는 선에서</a:t>
            </a:r>
          </a:p>
          <a:p>
            <a:pPr algn="ctr">
              <a:lnSpc>
                <a:spcPct val="150000"/>
              </a:lnSpc>
            </a:pPr>
            <a:r>
              <a:rPr sz="2600" b="1">
                <a:solidFill>
                  <a:srgbClr val="1B1E23"/>
                </a:solidFill>
                <a:latin typeface="맑은 고딕"/>
              </a:rPr>
              <a:t>능동적인 선택의 자유를 제공하는 것입니다.</a:t>
            </a:r>
          </a:p>
        </p:txBody>
      </p:sp>
      <p:pic>
        <p:nvPicPr>
          <p:cNvPr id="4" name="Picture 3" descr="표지_그래픽.png"/>
          <p:cNvPicPr>
            <a:picLocks noChangeAspect="1"/>
          </p:cNvPicPr>
          <p:nvPr/>
        </p:nvPicPr>
        <p:blipFill>
          <a:blip r:embed="rId2"/>
          <a:stretch>
            <a:fillRect/>
          </a:stretch>
        </p:blipFill>
        <p:spPr>
          <a:xfrm>
            <a:off x="2037996" y="3384000"/>
            <a:ext cx="8117208" cy="985661"/>
          </a:xfrm>
          <a:prstGeom prst="rect">
            <a:avLst/>
          </a:prstGeom>
        </p:spPr>
      </p:pic>
      <p:sp>
        <p:nvSpPr>
          <p:cNvPr id="5" name="TextBox 4"/>
          <p:cNvSpPr txBox="1"/>
          <p:nvPr/>
        </p:nvSpPr>
        <p:spPr>
          <a:xfrm>
            <a:off x="612000" y="5508000"/>
            <a:ext cx="10969200" cy="360000"/>
          </a:xfrm>
          <a:prstGeom prst="rect">
            <a:avLst/>
          </a:prstGeom>
          <a:noFill/>
        </p:spPr>
        <p:txBody>
          <a:bodyPr wrap="square" lIns="0" rIns="0" tIns="0" bIns="0" anchor="t">
            <a:spAutoFit/>
          </a:bodyPr>
          <a:lstStyle/>
          <a:p>
            <a:pPr algn="ctr">
              <a:lnSpc>
                <a:spcPct val="130000"/>
              </a:lnSpc>
            </a:pPr>
            <a:r>
              <a:rPr sz="1500" b="1">
                <a:solidFill>
                  <a:srgbClr val="8A93A3"/>
                </a:solidFill>
                <a:latin typeface="맑은 고딕"/>
              </a:rPr>
              <a:t>이찬희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01</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소개</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871200"/>
            <a:ext cx="10969200" cy="324000"/>
          </a:xfrm>
          <a:prstGeom prst="rect">
            <a:avLst/>
          </a:prstGeom>
          <a:noFill/>
        </p:spPr>
        <p:txBody>
          <a:bodyPr wrap="square" lIns="0" rIns="0" tIns="0" bIns="0" anchor="t">
            <a:spAutoFit/>
          </a:bodyPr>
          <a:lstStyle/>
          <a:p>
            <a:pPr algn="l">
              <a:lnSpc>
                <a:spcPct val="130000"/>
              </a:lnSpc>
            </a:pPr>
            <a:r>
              <a:rPr sz="1400" b="1">
                <a:solidFill>
                  <a:srgbClr val="1B1E23"/>
                </a:solidFill>
                <a:latin typeface="맑은 고딕"/>
              </a:rPr>
              <a:t>알플레이 스토리 엔진에 22편을 출시해 누적 304,300챗을 기록한 AI 챗 크리에이터입니다.</a:t>
            </a:r>
          </a:p>
        </p:txBody>
      </p:sp>
      <p:sp>
        <p:nvSpPr>
          <p:cNvPr id="7" name="Rounded Rectangle 6"/>
          <p:cNvSpPr/>
          <p:nvPr/>
        </p:nvSpPr>
        <p:spPr>
          <a:xfrm>
            <a:off x="612000" y="1278000"/>
            <a:ext cx="4031999" cy="26640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92000" y="1429200"/>
            <a:ext cx="3671999" cy="216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인적사항</a:t>
            </a:r>
          </a:p>
        </p:txBody>
      </p:sp>
      <p:sp>
        <p:nvSpPr>
          <p:cNvPr id="9" name="TextBox 8"/>
          <p:cNvSpPr txBox="1"/>
          <p:nvPr/>
        </p:nvSpPr>
        <p:spPr>
          <a:xfrm>
            <a:off x="792000" y="1753200"/>
            <a:ext cx="900000" cy="216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이름</a:t>
            </a:r>
          </a:p>
        </p:txBody>
      </p:sp>
      <p:sp>
        <p:nvSpPr>
          <p:cNvPr id="10" name="TextBox 9"/>
          <p:cNvSpPr txBox="1"/>
          <p:nvPr/>
        </p:nvSpPr>
        <p:spPr>
          <a:xfrm>
            <a:off x="1728000" y="1753200"/>
            <a:ext cx="2735999" cy="270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이찬희</a:t>
            </a:r>
          </a:p>
        </p:txBody>
      </p:sp>
      <p:sp>
        <p:nvSpPr>
          <p:cNvPr id="11" name="TextBox 10"/>
          <p:cNvSpPr txBox="1"/>
          <p:nvPr/>
        </p:nvSpPr>
        <p:spPr>
          <a:xfrm>
            <a:off x="792000" y="2055600"/>
            <a:ext cx="900000" cy="216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생년월일</a:t>
            </a:r>
          </a:p>
        </p:txBody>
      </p:sp>
      <p:sp>
        <p:nvSpPr>
          <p:cNvPr id="12" name="TextBox 11"/>
          <p:cNvSpPr txBox="1"/>
          <p:nvPr/>
        </p:nvSpPr>
        <p:spPr>
          <a:xfrm>
            <a:off x="1728000" y="2055600"/>
            <a:ext cx="2735999" cy="270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2000. 06. 19.</a:t>
            </a:r>
          </a:p>
        </p:txBody>
      </p:sp>
      <p:sp>
        <p:nvSpPr>
          <p:cNvPr id="13" name="TextBox 12"/>
          <p:cNvSpPr txBox="1"/>
          <p:nvPr/>
        </p:nvSpPr>
        <p:spPr>
          <a:xfrm>
            <a:off x="792000" y="2358000"/>
            <a:ext cx="900000" cy="216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연락처</a:t>
            </a:r>
          </a:p>
        </p:txBody>
      </p:sp>
      <p:sp>
        <p:nvSpPr>
          <p:cNvPr id="14" name="TextBox 13"/>
          <p:cNvSpPr txBox="1"/>
          <p:nvPr/>
        </p:nvSpPr>
        <p:spPr>
          <a:xfrm>
            <a:off x="1728000" y="2358000"/>
            <a:ext cx="2735999" cy="270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010-9455-6563</a:t>
            </a:r>
          </a:p>
        </p:txBody>
      </p:sp>
      <p:sp>
        <p:nvSpPr>
          <p:cNvPr id="15" name="TextBox 14"/>
          <p:cNvSpPr txBox="1"/>
          <p:nvPr/>
        </p:nvSpPr>
        <p:spPr>
          <a:xfrm>
            <a:off x="792000" y="2660400"/>
            <a:ext cx="900000" cy="216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이메일</a:t>
            </a:r>
          </a:p>
        </p:txBody>
      </p:sp>
      <p:sp>
        <p:nvSpPr>
          <p:cNvPr id="16" name="TextBox 15"/>
          <p:cNvSpPr txBox="1"/>
          <p:nvPr/>
        </p:nvSpPr>
        <p:spPr>
          <a:xfrm>
            <a:off x="1728000" y="2660400"/>
            <a:ext cx="2735999" cy="270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aiprowithme@gmail.com</a:t>
            </a:r>
          </a:p>
        </p:txBody>
      </p:sp>
      <p:sp>
        <p:nvSpPr>
          <p:cNvPr id="17" name="TextBox 16"/>
          <p:cNvSpPr txBox="1"/>
          <p:nvPr/>
        </p:nvSpPr>
        <p:spPr>
          <a:xfrm>
            <a:off x="792000" y="2962800"/>
            <a:ext cx="900000" cy="216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주소</a:t>
            </a:r>
          </a:p>
        </p:txBody>
      </p:sp>
      <p:sp>
        <p:nvSpPr>
          <p:cNvPr id="18" name="TextBox 17"/>
          <p:cNvSpPr txBox="1"/>
          <p:nvPr/>
        </p:nvSpPr>
        <p:spPr>
          <a:xfrm>
            <a:off x="1728000" y="2962800"/>
            <a:ext cx="2735999" cy="270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서울특별시 광진구</a:t>
            </a:r>
          </a:p>
        </p:txBody>
      </p:sp>
      <p:sp>
        <p:nvSpPr>
          <p:cNvPr id="19" name="TextBox 18"/>
          <p:cNvSpPr txBox="1"/>
          <p:nvPr/>
        </p:nvSpPr>
        <p:spPr>
          <a:xfrm>
            <a:off x="792000" y="3265200"/>
            <a:ext cx="900000" cy="216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작품 홈</a:t>
            </a:r>
          </a:p>
        </p:txBody>
      </p:sp>
      <p:sp>
        <p:nvSpPr>
          <p:cNvPr id="20" name="TextBox 19"/>
          <p:cNvSpPr txBox="1"/>
          <p:nvPr/>
        </p:nvSpPr>
        <p:spPr>
          <a:xfrm>
            <a:off x="1728000" y="3265200"/>
            <a:ext cx="2735999" cy="270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rplay.live/creatorhome/60be6304c9e0231c43f6ba9c?page=storyChat</a:t>
            </a:r>
          </a:p>
        </p:txBody>
      </p:sp>
      <p:sp>
        <p:nvSpPr>
          <p:cNvPr id="21" name="TextBox 20"/>
          <p:cNvSpPr txBox="1"/>
          <p:nvPr/>
        </p:nvSpPr>
        <p:spPr>
          <a:xfrm>
            <a:off x="792000" y="3567600"/>
            <a:ext cx="900000" cy="216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졸업과제</a:t>
            </a:r>
          </a:p>
        </p:txBody>
      </p:sp>
      <p:sp>
        <p:nvSpPr>
          <p:cNvPr id="22" name="TextBox 21"/>
          <p:cNvSpPr txBox="1"/>
          <p:nvPr/>
        </p:nvSpPr>
        <p:spPr>
          <a:xfrm>
            <a:off x="1728000" y="3567600"/>
            <a:ext cx="2735999" cy="270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github.com/can6563/capstone-2026-behind-your-words</a:t>
            </a:r>
          </a:p>
        </p:txBody>
      </p:sp>
      <p:sp>
        <p:nvSpPr>
          <p:cNvPr id="23" name="TextBox 22"/>
          <p:cNvSpPr txBox="1"/>
          <p:nvPr/>
        </p:nvSpPr>
        <p:spPr>
          <a:xfrm>
            <a:off x="4895998" y="1285200"/>
            <a:ext cx="6685202" cy="216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강점</a:t>
            </a:r>
          </a:p>
        </p:txBody>
      </p:sp>
      <p:sp>
        <p:nvSpPr>
          <p:cNvPr id="24" name="Rounded Rectangle 23"/>
          <p:cNvSpPr/>
          <p:nvPr/>
        </p:nvSpPr>
        <p:spPr>
          <a:xfrm>
            <a:off x="4895998" y="1537200"/>
            <a:ext cx="6685202" cy="5832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895998" y="1537200"/>
            <a:ext cx="46800" cy="5832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57998" y="1616400"/>
            <a:ext cx="6397202" cy="198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실제 출시 경험</a:t>
            </a:r>
          </a:p>
        </p:txBody>
      </p:sp>
      <p:sp>
        <p:nvSpPr>
          <p:cNvPr id="27" name="TextBox 26"/>
          <p:cNvSpPr txBox="1"/>
          <p:nvPr/>
        </p:nvSpPr>
        <p:spPr>
          <a:xfrm>
            <a:off x="5057998" y="1832400"/>
            <a:ext cx="6397202" cy="251999"/>
          </a:xfrm>
          <a:prstGeom prst="rect">
            <a:avLst/>
          </a:prstGeom>
          <a:noFill/>
        </p:spPr>
        <p:txBody>
          <a:bodyPr wrap="square" lIns="0" rIns="0" tIns="0" bIns="0" anchor="t">
            <a:spAutoFit/>
          </a:bodyPr>
          <a:lstStyle/>
          <a:p>
            <a:pPr algn="l">
              <a:lnSpc>
                <a:spcPct val="130000"/>
              </a:lnSpc>
            </a:pPr>
            <a:r>
              <a:rPr sz="950" b="0">
                <a:solidFill>
                  <a:srgbClr val="5B6472"/>
                </a:solidFill>
                <a:latin typeface="맑은 고딕"/>
              </a:rPr>
              <a:t>알플레이 스토리 엔진 22편 연재 · 누적 304,300챗 · 최고작 54,100챗 · 2위작 51,400챗</a:t>
            </a:r>
          </a:p>
        </p:txBody>
      </p:sp>
      <p:sp>
        <p:nvSpPr>
          <p:cNvPr id="28" name="Rounded Rectangle 27"/>
          <p:cNvSpPr/>
          <p:nvPr/>
        </p:nvSpPr>
        <p:spPr>
          <a:xfrm>
            <a:off x="4895998" y="2235600"/>
            <a:ext cx="6685202" cy="5832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895998" y="2235600"/>
            <a:ext cx="46800" cy="5832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57998" y="2314800"/>
            <a:ext cx="6397202" cy="198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단독 수행과 협업 모두 가능</a:t>
            </a:r>
          </a:p>
        </p:txBody>
      </p:sp>
      <p:sp>
        <p:nvSpPr>
          <p:cNvPr id="31" name="TextBox 30"/>
          <p:cNvSpPr txBox="1"/>
          <p:nvPr/>
        </p:nvSpPr>
        <p:spPr>
          <a:xfrm>
            <a:off x="5057998" y="2530800"/>
            <a:ext cx="6397202" cy="251999"/>
          </a:xfrm>
          <a:prstGeom prst="rect">
            <a:avLst/>
          </a:prstGeom>
          <a:noFill/>
        </p:spPr>
        <p:txBody>
          <a:bodyPr wrap="square" lIns="0" rIns="0" tIns="0" bIns="0" anchor="t">
            <a:spAutoFit/>
          </a:bodyPr>
          <a:lstStyle/>
          <a:p>
            <a:pPr algn="l">
              <a:lnSpc>
                <a:spcPct val="130000"/>
              </a:lnSpc>
            </a:pPr>
            <a:r>
              <a:rPr sz="950" b="0">
                <a:solidFill>
                  <a:srgbClr val="5B6472"/>
                </a:solidFill>
                <a:latin typeface="맑은 고딕"/>
              </a:rPr>
              <a:t>기획 · 프롬프트 · 이미지 에셋 · 상태창 UI를 단독 처리, 아트 디자이너 · 스트리머와의 협업 경험 보유</a:t>
            </a:r>
          </a:p>
        </p:txBody>
      </p:sp>
      <p:sp>
        <p:nvSpPr>
          <p:cNvPr id="32" name="Rounded Rectangle 31"/>
          <p:cNvSpPr/>
          <p:nvPr/>
        </p:nvSpPr>
        <p:spPr>
          <a:xfrm>
            <a:off x="4895998" y="2934000"/>
            <a:ext cx="6685202" cy="5832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4895998" y="2934000"/>
            <a:ext cx="46800" cy="5832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57998" y="3013200"/>
            <a:ext cx="6397202" cy="198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남성향 이용자 이해</a:t>
            </a:r>
          </a:p>
        </p:txBody>
      </p:sp>
      <p:sp>
        <p:nvSpPr>
          <p:cNvPr id="35" name="TextBox 34"/>
          <p:cNvSpPr txBox="1"/>
          <p:nvPr/>
        </p:nvSpPr>
        <p:spPr>
          <a:xfrm>
            <a:off x="5057998" y="3229200"/>
            <a:ext cx="6397202" cy="251999"/>
          </a:xfrm>
          <a:prstGeom prst="rect">
            <a:avLst/>
          </a:prstGeom>
          <a:noFill/>
        </p:spPr>
        <p:txBody>
          <a:bodyPr wrap="square" lIns="0" rIns="0" tIns="0" bIns="0" anchor="t">
            <a:spAutoFit/>
          </a:bodyPr>
          <a:lstStyle/>
          <a:p>
            <a:pPr algn="l">
              <a:lnSpc>
                <a:spcPct val="130000"/>
              </a:lnSpc>
            </a:pPr>
            <a:r>
              <a:rPr sz="950" b="0">
                <a:solidFill>
                  <a:srgbClr val="5B6472"/>
                </a:solidFill>
                <a:latin typeface="맑은 고딕"/>
              </a:rPr>
              <a:t>남성향 성인 플랫폼에서 연재하며 선호 소재와 이탈 지점을 이용자 반응으로 직접 확인</a:t>
            </a:r>
          </a:p>
        </p:txBody>
      </p:sp>
      <p:sp>
        <p:nvSpPr>
          <p:cNvPr id="36" name="Rounded Rectangle 35"/>
          <p:cNvSpPr/>
          <p:nvPr/>
        </p:nvSpPr>
        <p:spPr>
          <a:xfrm>
            <a:off x="4895998" y="3632400"/>
            <a:ext cx="6685202" cy="5832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895998" y="3632400"/>
            <a:ext cx="46800" cy="5832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57998" y="3711600"/>
            <a:ext cx="6397202" cy="198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데이터 기반 개선</a:t>
            </a:r>
          </a:p>
        </p:txBody>
      </p:sp>
      <p:sp>
        <p:nvSpPr>
          <p:cNvPr id="39" name="TextBox 38"/>
          <p:cNvSpPr txBox="1"/>
          <p:nvPr/>
        </p:nvSpPr>
        <p:spPr>
          <a:xfrm>
            <a:off x="5057998" y="3927600"/>
            <a:ext cx="6397202" cy="251999"/>
          </a:xfrm>
          <a:prstGeom prst="rect">
            <a:avLst/>
          </a:prstGeom>
          <a:noFill/>
        </p:spPr>
        <p:txBody>
          <a:bodyPr wrap="square" lIns="0" rIns="0" tIns="0" bIns="0" anchor="t">
            <a:spAutoFit/>
          </a:bodyPr>
          <a:lstStyle/>
          <a:p>
            <a:pPr algn="l">
              <a:lnSpc>
                <a:spcPct val="130000"/>
              </a:lnSpc>
            </a:pPr>
            <a:r>
              <a:rPr sz="950" b="0">
                <a:solidFill>
                  <a:srgbClr val="5B6472"/>
                </a:solidFill>
                <a:latin typeface="맑은 고딕"/>
              </a:rPr>
              <a:t>절차 정비 후 9편 평균 성과 171% 상승 · 동일 기간 제작량 6.1배</a:t>
            </a:r>
          </a:p>
        </p:txBody>
      </p:sp>
      <p:graphicFrame>
        <p:nvGraphicFramePr>
          <p:cNvPr id="40" name="Table 39"/>
          <p:cNvGraphicFramePr>
            <a:graphicFrameLocks noGrp="1"/>
          </p:cNvGraphicFramePr>
          <p:nvPr/>
        </p:nvGraphicFramePr>
        <p:xfrm>
          <a:off x="612000" y="4140000"/>
          <a:ext cx="10969200" cy="2376000"/>
        </p:xfrm>
        <a:graphic>
          <a:graphicData uri="http://schemas.openxmlformats.org/drawingml/2006/table">
            <a:tbl>
              <a:tblPr firstRow="1" bandRow="1">
                <a:tableStyleId>{5C22544A-7EE6-4342-B048-85BDC9FD1C3A}</a:tableStyleId>
              </a:tblPr>
              <a:tblGrid>
                <a:gridCol w="1645380"/>
                <a:gridCol w="9323820"/>
              </a:tblGrid>
              <a:tr h="475200">
                <a:tc>
                  <a:txBody>
                    <a:bodyPr/>
                    <a:lstStyle/>
                    <a:p>
                      <a:pPr algn="ctr">
                        <a:lnSpc>
                          <a:spcPct val="125000"/>
                        </a:lnSpc>
                      </a:pPr>
                      <a:r>
                        <a:rPr sz="1000" b="1">
                          <a:solidFill>
                            <a:srgbClr val="1B1E23"/>
                          </a:solidFill>
                          <a:latin typeface="맑은 고딕"/>
                        </a:rPr>
                        <a:t>구분</a:t>
                      </a:r>
                    </a:p>
                  </a:txBody>
                  <a:tcPr marL="79200" marR="79200" marT="28800" marB="28800" anchor="ctr">
                    <a:solidFill>
                      <a:srgbClr val="E8EDF7"/>
                    </a:solidFill>
                  </a:tcPr>
                </a:tc>
                <a:tc>
                  <a:txBody>
                    <a:bodyPr/>
                    <a:lstStyle/>
                    <a:p>
                      <a:pPr algn="ctr">
                        <a:lnSpc>
                          <a:spcPct val="125000"/>
                        </a:lnSpc>
                      </a:pPr>
                      <a:r>
                        <a:rPr sz="1000" b="1">
                          <a:solidFill>
                            <a:srgbClr val="1B1E23"/>
                          </a:solidFill>
                          <a:latin typeface="맑은 고딕"/>
                        </a:rPr>
                        <a:t>내용</a:t>
                      </a:r>
                    </a:p>
                  </a:txBody>
                  <a:tcPr marL="79200" marR="79200" marT="28800" marB="28800" anchor="ctr">
                    <a:solidFill>
                      <a:srgbClr val="E8EDF7"/>
                    </a:solidFill>
                  </a:tcPr>
                </a:tc>
              </a:tr>
              <a:tr h="475200">
                <a:tc>
                  <a:txBody>
                    <a:bodyPr/>
                    <a:lstStyle/>
                    <a:p>
                      <a:pPr algn="ctr">
                        <a:lnSpc>
                          <a:spcPct val="125000"/>
                        </a:lnSpc>
                      </a:pPr>
                      <a:r>
                        <a:rPr sz="1000" b="1">
                          <a:solidFill>
                            <a:srgbClr val="1F4EA8"/>
                          </a:solidFill>
                          <a:latin typeface="맑은 고딕"/>
                        </a:rPr>
                        <a:t>학력</a:t>
                      </a:r>
                    </a:p>
                  </a:txBody>
                  <a:tcPr marL="79200" marR="79200" marT="28800" marB="28800" anchor="ctr">
                    <a:solidFill>
                      <a:srgbClr val="FAFBFD"/>
                    </a:solidFill>
                  </a:tcPr>
                </a:tc>
                <a:tc>
                  <a:txBody>
                    <a:bodyPr/>
                    <a:lstStyle/>
                    <a:p>
                      <a:pPr algn="l">
                        <a:lnSpc>
                          <a:spcPct val="125000"/>
                        </a:lnSpc>
                      </a:pPr>
                      <a:r>
                        <a:rPr sz="1000" b="0">
                          <a:solidFill>
                            <a:srgbClr val="1B1E23"/>
                          </a:solidFill>
                          <a:latin typeface="맑은 고딕"/>
                        </a:rPr>
                        <a:t>한성대학교 IT공과대학 · 모바일소프트웨어 / 디지털콘텐츠(VR) 트랙  2020. 03. ~ 2027. 02. 졸업 예정</a:t>
                      </a:r>
                    </a:p>
                  </a:txBody>
                  <a:tcPr marL="79200" marR="79200" marT="28800" marB="28800" anchor="ctr">
                    <a:solidFill>
                      <a:srgbClr val="FFFFFF"/>
                    </a:solidFill>
                  </a:tcPr>
                </a:tc>
              </a:tr>
              <a:tr h="475200">
                <a:tc>
                  <a:txBody>
                    <a:bodyPr/>
                    <a:lstStyle/>
                    <a:p>
                      <a:pPr algn="ctr">
                        <a:lnSpc>
                          <a:spcPct val="125000"/>
                        </a:lnSpc>
                      </a:pPr>
                      <a:r>
                        <a:rPr sz="1000" b="1">
                          <a:solidFill>
                            <a:srgbClr val="1F4EA8"/>
                          </a:solidFill>
                          <a:latin typeface="맑은 고딕"/>
                        </a:rPr>
                        <a:t>제작 경력</a:t>
                      </a:r>
                    </a:p>
                  </a:txBody>
                  <a:tcPr marL="79200" marR="79200" marT="28800" marB="28800" anchor="ctr">
                    <a:solidFill>
                      <a:srgbClr val="FAFBFD"/>
                    </a:solidFill>
                  </a:tcPr>
                </a:tc>
                <a:tc>
                  <a:txBody>
                    <a:bodyPr/>
                    <a:lstStyle/>
                    <a:p>
                      <a:pPr algn="l">
                        <a:lnSpc>
                          <a:spcPct val="125000"/>
                        </a:lnSpc>
                      </a:pPr>
                      <a:r>
                        <a:rPr sz="1000" b="0">
                          <a:solidFill>
                            <a:srgbClr val="1B1E23"/>
                          </a:solidFill>
                          <a:latin typeface="맑은 고딕"/>
                        </a:rPr>
                        <a:t>알플레이 스토리 엔진 AI 챗 콘텐츠 제작 · 2025. 07. ~ 현재  22편 연재 · 누적 304,300챗</a:t>
                      </a:r>
                    </a:p>
                  </a:txBody>
                  <a:tcPr marL="79200" marR="79200" marT="28800" marB="28800" anchor="ctr">
                    <a:solidFill>
                      <a:srgbClr val="FFFFFF"/>
                    </a:solidFill>
                  </a:tcPr>
                </a:tc>
              </a:tr>
              <a:tr h="475200">
                <a:tc>
                  <a:txBody>
                    <a:bodyPr/>
                    <a:lstStyle/>
                    <a:p>
                      <a:pPr algn="ctr">
                        <a:lnSpc>
                          <a:spcPct val="125000"/>
                        </a:lnSpc>
                      </a:pPr>
                      <a:r>
                        <a:rPr sz="1000" b="1">
                          <a:solidFill>
                            <a:srgbClr val="1F4EA8"/>
                          </a:solidFill>
                          <a:latin typeface="맑은 고딕"/>
                        </a:rPr>
                        <a:t>졸업과제</a:t>
                      </a:r>
                    </a:p>
                  </a:txBody>
                  <a:tcPr marL="79200" marR="79200" marT="28800" marB="28800" anchor="ctr">
                    <a:solidFill>
                      <a:srgbClr val="FAFBFD"/>
                    </a:solidFill>
                  </a:tcPr>
                </a:tc>
                <a:tc>
                  <a:txBody>
                    <a:bodyPr/>
                    <a:lstStyle/>
                    <a:p>
                      <a:pPr algn="l">
                        <a:lnSpc>
                          <a:spcPct val="125000"/>
                        </a:lnSpc>
                      </a:pPr>
                      <a:r>
                        <a:rPr sz="1000" b="0">
                          <a:solidFill>
                            <a:srgbClr val="1B1E23"/>
                          </a:solidFill>
                          <a:latin typeface="맑은 고딕"/>
                        </a:rPr>
                        <a:t>AI 응답 추리 서사극 구축 · 2026. 03. ~ 06.  디자이너 협업으로 2.5D · 3D 게임 구축</a:t>
                      </a:r>
                    </a:p>
                  </a:txBody>
                  <a:tcPr marL="79200" marR="79200" marT="28800" marB="28800" anchor="ctr">
                    <a:solidFill>
                      <a:srgbClr val="FFFFFF"/>
                    </a:solidFill>
                  </a:tcPr>
                </a:tc>
              </a:tr>
              <a:tr h="475200">
                <a:tc>
                  <a:txBody>
                    <a:bodyPr/>
                    <a:lstStyle/>
                    <a:p>
                      <a:pPr algn="ctr">
                        <a:lnSpc>
                          <a:spcPct val="125000"/>
                        </a:lnSpc>
                      </a:pPr>
                      <a:r>
                        <a:rPr sz="1000" b="1">
                          <a:solidFill>
                            <a:srgbClr val="1F4EA8"/>
                          </a:solidFill>
                          <a:latin typeface="맑은 고딕"/>
                        </a:rPr>
                        <a:t>수상</a:t>
                      </a:r>
                    </a:p>
                  </a:txBody>
                  <a:tcPr marL="79200" marR="79200" marT="28800" marB="28800" anchor="ctr">
                    <a:solidFill>
                      <a:srgbClr val="FAFBFD"/>
                    </a:solidFill>
                  </a:tcPr>
                </a:tc>
                <a:tc>
                  <a:txBody>
                    <a:bodyPr/>
                    <a:lstStyle/>
                    <a:p>
                      <a:pPr algn="l">
                        <a:lnSpc>
                          <a:spcPct val="125000"/>
                        </a:lnSpc>
                      </a:pPr>
                      <a:r>
                        <a:rPr sz="1000" b="0">
                          <a:solidFill>
                            <a:srgbClr val="1B1E23"/>
                          </a:solidFill>
                          <a:latin typeface="맑은 고딕"/>
                        </a:rPr>
                        <a:t>2025년 한성 SW중심대학 페스티벌 우수상</a:t>
                      </a:r>
                    </a:p>
                  </a:txBody>
                  <a:tcPr marL="79200" marR="79200" marT="28800" marB="28800"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02</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대표 작품</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12000" y="1278000"/>
            <a:ext cx="10969200" cy="413999"/>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12000" y="1278000"/>
            <a:ext cx="46800" cy="413999"/>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2000" y="1278000"/>
            <a:ext cx="10609200" cy="413999"/>
          </a:xfrm>
          <a:prstGeom prst="rect">
            <a:avLst/>
          </a:prstGeom>
          <a:noFill/>
        </p:spPr>
        <p:txBody>
          <a:bodyPr wrap="square" lIns="0" rIns="0" tIns="0" bIns="0" anchor="ctr">
            <a:spAutoFit/>
          </a:bodyPr>
          <a:lstStyle/>
          <a:p>
            <a:pPr algn="l">
              <a:lnSpc>
                <a:spcPct val="130000"/>
              </a:lnSpc>
            </a:pPr>
            <a:r>
              <a:rPr sz="1100" b="1">
                <a:solidFill>
                  <a:srgbClr val="1F4EA8"/>
                </a:solidFill>
                <a:latin typeface="맑은 고딕"/>
              </a:rPr>
              <a:t>22편 전량을 알플레이 스토리 엔진(남성향 성인 플랫폼)에 연재했습니다. 선호 소재와 이탈 지점을 이용자 반응으로 직접 확인해 왔습니다.</a:t>
            </a:r>
          </a:p>
        </p:txBody>
      </p:sp>
      <p:pic>
        <p:nvPicPr>
          <p:cNvPr id="9" name="Picture 8" descr="대표작1_다대일하렘.png"/>
          <p:cNvPicPr>
            <a:picLocks noChangeAspect="1"/>
          </p:cNvPicPr>
          <p:nvPr/>
        </p:nvPicPr>
        <p:blipFill>
          <a:blip r:embed="rId2"/>
          <a:stretch>
            <a:fillRect/>
          </a:stretch>
        </p:blipFill>
        <p:spPr>
          <a:xfrm>
            <a:off x="1035343" y="1836000"/>
            <a:ext cx="2653714" cy="1548000"/>
          </a:xfrm>
          <a:prstGeom prst="rect">
            <a:avLst/>
          </a:prstGeom>
        </p:spPr>
      </p:pic>
      <p:sp>
        <p:nvSpPr>
          <p:cNvPr id="10" name="TextBox 9"/>
          <p:cNvSpPr txBox="1"/>
          <p:nvPr/>
        </p:nvSpPr>
        <p:spPr>
          <a:xfrm>
            <a:off x="612000" y="3456000"/>
            <a:ext cx="3500400" cy="216000"/>
          </a:xfrm>
          <a:prstGeom prst="rect">
            <a:avLst/>
          </a:prstGeom>
          <a:noFill/>
        </p:spPr>
        <p:txBody>
          <a:bodyPr wrap="square" lIns="0" rIns="0" tIns="0" bIns="0" anchor="t">
            <a:spAutoFit/>
          </a:bodyPr>
          <a:lstStyle/>
          <a:p>
            <a:pPr algn="l">
              <a:lnSpc>
                <a:spcPct val="130000"/>
              </a:lnSpc>
            </a:pPr>
            <a:r>
              <a:rPr sz="1300" b="1">
                <a:solidFill>
                  <a:srgbClr val="1B1E23"/>
                </a:solidFill>
                <a:latin typeface="맑은 고딕"/>
              </a:rPr>
              <a:t>다대일 하렘 구조 작품</a:t>
            </a:r>
          </a:p>
        </p:txBody>
      </p:sp>
      <p:sp>
        <p:nvSpPr>
          <p:cNvPr id="11" name="TextBox 10"/>
          <p:cNvSpPr txBox="1"/>
          <p:nvPr/>
        </p:nvSpPr>
        <p:spPr>
          <a:xfrm>
            <a:off x="612000" y="3700800"/>
            <a:ext cx="3500400" cy="216000"/>
          </a:xfrm>
          <a:prstGeom prst="rect">
            <a:avLst/>
          </a:prstGeom>
          <a:noFill/>
        </p:spPr>
        <p:txBody>
          <a:bodyPr wrap="square" lIns="0" rIns="0" tIns="0" bIns="0" anchor="t">
            <a:spAutoFit/>
          </a:bodyPr>
          <a:lstStyle/>
          <a:p>
            <a:pPr algn="l">
              <a:lnSpc>
                <a:spcPct val="130000"/>
              </a:lnSpc>
            </a:pPr>
            <a:r>
              <a:rPr sz="1250" b="1">
                <a:solidFill>
                  <a:srgbClr val="1F4EA8"/>
                </a:solidFill>
                <a:latin typeface="맑은 고딕"/>
              </a:rPr>
              <a:t>54,100 챗   ·   최고 성과작</a:t>
            </a:r>
          </a:p>
        </p:txBody>
      </p:sp>
      <p:graphicFrame>
        <p:nvGraphicFramePr>
          <p:cNvPr id="12" name="Table 11"/>
          <p:cNvGraphicFramePr>
            <a:graphicFrameLocks noGrp="1"/>
          </p:cNvGraphicFramePr>
          <p:nvPr/>
        </p:nvGraphicFramePr>
        <p:xfrm>
          <a:off x="612000" y="3978000"/>
          <a:ext cx="3500400" cy="2332800"/>
        </p:xfrm>
        <a:graphic>
          <a:graphicData uri="http://schemas.openxmlformats.org/drawingml/2006/table">
            <a:tbl>
              <a:tblPr firstRow="1" bandRow="1">
                <a:tableStyleId>{5C22544A-7EE6-4342-B048-85BDC9FD1C3A}</a:tableStyleId>
              </a:tblPr>
              <a:tblGrid>
                <a:gridCol w="823624"/>
                <a:gridCol w="2676776"/>
              </a:tblGrid>
              <a:tr h="583200">
                <a:tc>
                  <a:txBody>
                    <a:bodyPr/>
                    <a:lstStyle/>
                    <a:p>
                      <a:pPr algn="ctr">
                        <a:lnSpc>
                          <a:spcPct val="125000"/>
                        </a:lnSpc>
                      </a:pPr>
                      <a:r>
                        <a:rPr sz="900" b="1">
                          <a:solidFill>
                            <a:srgbClr val="1F4EA8"/>
                          </a:solidFill>
                          <a:latin typeface="맑은 고딕"/>
                        </a:rPr>
                        <a:t>기획 의도</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하나의 공통 소재를 두고, 이용자가 각 인물과 대화하며 자기 주장을 설득해 나가는 구조</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설계</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인물별 정보와 발화 우선순위를 분리 정의 · 동시 등장 시 응답 순서를 규칙으로 고정</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결과</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공개작 중 최고 지표</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배운 점</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다인 구성은 인물 수가 아니라 발화 순서의 문제</a:t>
                      </a:r>
                    </a:p>
                  </a:txBody>
                  <a:tcPr marL="79200" marR="79200" marT="28800" marB="28800" anchor="ctr">
                    <a:solidFill>
                      <a:srgbClr val="FFFFFF"/>
                    </a:solidFill>
                  </a:tcPr>
                </a:tc>
              </a:tr>
            </a:tbl>
          </a:graphicData>
        </a:graphic>
      </p:graphicFrame>
      <p:pic>
        <p:nvPicPr>
          <p:cNvPr id="13" name="Picture 12" descr="대표작2_연상하렘.png"/>
          <p:cNvPicPr>
            <a:picLocks noChangeAspect="1"/>
          </p:cNvPicPr>
          <p:nvPr/>
        </p:nvPicPr>
        <p:blipFill>
          <a:blip r:embed="rId3"/>
          <a:stretch>
            <a:fillRect/>
          </a:stretch>
        </p:blipFill>
        <p:spPr>
          <a:xfrm>
            <a:off x="4808984" y="1836000"/>
            <a:ext cx="2575231" cy="1548000"/>
          </a:xfrm>
          <a:prstGeom prst="rect">
            <a:avLst/>
          </a:prstGeom>
        </p:spPr>
      </p:pic>
      <p:sp>
        <p:nvSpPr>
          <p:cNvPr id="14" name="TextBox 13"/>
          <p:cNvSpPr txBox="1"/>
          <p:nvPr/>
        </p:nvSpPr>
        <p:spPr>
          <a:xfrm>
            <a:off x="4346400" y="3456000"/>
            <a:ext cx="3500400" cy="216000"/>
          </a:xfrm>
          <a:prstGeom prst="rect">
            <a:avLst/>
          </a:prstGeom>
          <a:noFill/>
        </p:spPr>
        <p:txBody>
          <a:bodyPr wrap="square" lIns="0" rIns="0" tIns="0" bIns="0" anchor="t">
            <a:spAutoFit/>
          </a:bodyPr>
          <a:lstStyle/>
          <a:p>
            <a:pPr algn="l">
              <a:lnSpc>
                <a:spcPct val="130000"/>
              </a:lnSpc>
            </a:pPr>
            <a:r>
              <a:rPr sz="1300" b="1">
                <a:solidFill>
                  <a:srgbClr val="1B1E23"/>
                </a:solidFill>
                <a:latin typeface="맑은 고딕"/>
              </a:rPr>
              <a:t>연상 인물 다대일 작품</a:t>
            </a:r>
          </a:p>
        </p:txBody>
      </p:sp>
      <p:sp>
        <p:nvSpPr>
          <p:cNvPr id="15" name="TextBox 14"/>
          <p:cNvSpPr txBox="1"/>
          <p:nvPr/>
        </p:nvSpPr>
        <p:spPr>
          <a:xfrm>
            <a:off x="4346400" y="3700800"/>
            <a:ext cx="3500400" cy="216000"/>
          </a:xfrm>
          <a:prstGeom prst="rect">
            <a:avLst/>
          </a:prstGeom>
          <a:noFill/>
        </p:spPr>
        <p:txBody>
          <a:bodyPr wrap="square" lIns="0" rIns="0" tIns="0" bIns="0" anchor="t">
            <a:spAutoFit/>
          </a:bodyPr>
          <a:lstStyle/>
          <a:p>
            <a:pPr algn="l">
              <a:lnSpc>
                <a:spcPct val="130000"/>
              </a:lnSpc>
            </a:pPr>
            <a:r>
              <a:rPr sz="1250" b="1">
                <a:solidFill>
                  <a:srgbClr val="1F4EA8"/>
                </a:solidFill>
                <a:latin typeface="맑은 고딕"/>
              </a:rPr>
              <a:t>51,400 챗   ·   2위 성과작</a:t>
            </a:r>
          </a:p>
        </p:txBody>
      </p:sp>
      <p:graphicFrame>
        <p:nvGraphicFramePr>
          <p:cNvPr id="16" name="Table 15"/>
          <p:cNvGraphicFramePr>
            <a:graphicFrameLocks noGrp="1"/>
          </p:cNvGraphicFramePr>
          <p:nvPr/>
        </p:nvGraphicFramePr>
        <p:xfrm>
          <a:off x="4346400" y="3978000"/>
          <a:ext cx="3500400" cy="2332800"/>
        </p:xfrm>
        <a:graphic>
          <a:graphicData uri="http://schemas.openxmlformats.org/drawingml/2006/table">
            <a:tbl>
              <a:tblPr firstRow="1" bandRow="1">
                <a:tableStyleId>{5C22544A-7EE6-4342-B048-85BDC9FD1C3A}</a:tableStyleId>
              </a:tblPr>
              <a:tblGrid>
                <a:gridCol w="823624"/>
                <a:gridCol w="2676776"/>
              </a:tblGrid>
              <a:tr h="583200">
                <a:tc>
                  <a:txBody>
                    <a:bodyPr/>
                    <a:lstStyle/>
                    <a:p>
                      <a:pPr algn="ctr">
                        <a:lnSpc>
                          <a:spcPct val="125000"/>
                        </a:lnSpc>
                      </a:pPr>
                      <a:r>
                        <a:rPr sz="900" b="1">
                          <a:solidFill>
                            <a:srgbClr val="1F4EA8"/>
                          </a:solidFill>
                          <a:latin typeface="맑은 고딕"/>
                        </a:rPr>
                        <a:t>기획 의도</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서브컬처에서 수요가 확실한 연상(밀프) 소재로, 이용자가 기대하는 경험을 정면으로 제공</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설계</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연령대 · 직함 · 외형을 겹치지 않게 묶어 페르소나 구성 · 소개팅 상황으로 진입 문턱 제거</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결과</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인물 구성만 바꿔 최고작에 근접</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배운 점</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새 소재보다 익숙한 상황 + 겹치지 않는 인물이 안전</a:t>
                      </a:r>
                    </a:p>
                  </a:txBody>
                  <a:tcPr marL="79200" marR="79200" marT="28800" marB="28800" anchor="ctr">
                    <a:solidFill>
                      <a:srgbClr val="FFFFFF"/>
                    </a:solidFill>
                  </a:tcPr>
                </a:tc>
              </a:tr>
            </a:tbl>
          </a:graphicData>
        </a:graphic>
      </p:graphicFrame>
      <p:pic>
        <p:nvPicPr>
          <p:cNvPr id="17" name="Picture 16" descr="대표작3_부진작.png"/>
          <p:cNvPicPr>
            <a:picLocks noChangeAspect="1"/>
          </p:cNvPicPr>
          <p:nvPr/>
        </p:nvPicPr>
        <p:blipFill>
          <a:blip r:embed="rId4"/>
          <a:stretch>
            <a:fillRect/>
          </a:stretch>
        </p:blipFill>
        <p:spPr>
          <a:xfrm>
            <a:off x="8501611" y="1836000"/>
            <a:ext cx="2658779" cy="1548000"/>
          </a:xfrm>
          <a:prstGeom prst="rect">
            <a:avLst/>
          </a:prstGeom>
        </p:spPr>
      </p:pic>
      <p:sp>
        <p:nvSpPr>
          <p:cNvPr id="18" name="TextBox 17"/>
          <p:cNvSpPr txBox="1"/>
          <p:nvPr/>
        </p:nvSpPr>
        <p:spPr>
          <a:xfrm>
            <a:off x="8080800" y="3456000"/>
            <a:ext cx="3500400" cy="216000"/>
          </a:xfrm>
          <a:prstGeom prst="rect">
            <a:avLst/>
          </a:prstGeom>
          <a:noFill/>
        </p:spPr>
        <p:txBody>
          <a:bodyPr wrap="square" lIns="0" rIns="0" tIns="0" bIns="0" anchor="t">
            <a:spAutoFit/>
          </a:bodyPr>
          <a:lstStyle/>
          <a:p>
            <a:pPr algn="l">
              <a:lnSpc>
                <a:spcPct val="130000"/>
              </a:lnSpc>
            </a:pPr>
            <a:r>
              <a:rPr sz="1300" b="1">
                <a:solidFill>
                  <a:srgbClr val="1B1E23"/>
                </a:solidFill>
                <a:latin typeface="맑은 고딕"/>
              </a:rPr>
              <a:t>명절 하렘 시뮬레이션</a:t>
            </a:r>
          </a:p>
        </p:txBody>
      </p:sp>
      <p:sp>
        <p:nvSpPr>
          <p:cNvPr id="19" name="TextBox 18"/>
          <p:cNvSpPr txBox="1"/>
          <p:nvPr/>
        </p:nvSpPr>
        <p:spPr>
          <a:xfrm>
            <a:off x="8080800" y="3700800"/>
            <a:ext cx="3500400" cy="216000"/>
          </a:xfrm>
          <a:prstGeom prst="rect">
            <a:avLst/>
          </a:prstGeom>
          <a:noFill/>
        </p:spPr>
        <p:txBody>
          <a:bodyPr wrap="square" lIns="0" rIns="0" tIns="0" bIns="0" anchor="t">
            <a:spAutoFit/>
          </a:bodyPr>
          <a:lstStyle/>
          <a:p>
            <a:pPr algn="l">
              <a:lnSpc>
                <a:spcPct val="130000"/>
              </a:lnSpc>
            </a:pPr>
            <a:r>
              <a:rPr sz="1250" b="1">
                <a:solidFill>
                  <a:srgbClr val="1F4EA8"/>
                </a:solidFill>
                <a:latin typeface="맑은 고딕"/>
              </a:rPr>
              <a:t>4,100 챗   ·   부진작</a:t>
            </a:r>
          </a:p>
        </p:txBody>
      </p:sp>
      <p:graphicFrame>
        <p:nvGraphicFramePr>
          <p:cNvPr id="20" name="Table 19"/>
          <p:cNvGraphicFramePr>
            <a:graphicFrameLocks noGrp="1"/>
          </p:cNvGraphicFramePr>
          <p:nvPr/>
        </p:nvGraphicFramePr>
        <p:xfrm>
          <a:off x="8080800" y="3978000"/>
          <a:ext cx="3500400" cy="2332800"/>
        </p:xfrm>
        <a:graphic>
          <a:graphicData uri="http://schemas.openxmlformats.org/drawingml/2006/table">
            <a:tbl>
              <a:tblPr firstRow="1" bandRow="1">
                <a:tableStyleId>{5C22544A-7EE6-4342-B048-85BDC9FD1C3A}</a:tableStyleId>
              </a:tblPr>
              <a:tblGrid>
                <a:gridCol w="823624"/>
                <a:gridCol w="2676776"/>
              </a:tblGrid>
              <a:tr h="583200">
                <a:tc>
                  <a:txBody>
                    <a:bodyPr/>
                    <a:lstStyle/>
                    <a:p>
                      <a:pPr algn="ctr">
                        <a:lnSpc>
                          <a:spcPct val="125000"/>
                        </a:lnSpc>
                      </a:pPr>
                      <a:r>
                        <a:rPr sz="900" b="1">
                          <a:solidFill>
                            <a:srgbClr val="1F4EA8"/>
                          </a:solidFill>
                          <a:latin typeface="맑은 고딕"/>
                        </a:rPr>
                        <a:t>기획 의도</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시리즈물로서 명절이라는 시기적 공감대가 큰 소재로 신규 유입을 시도</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설계</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기존 작품의 인물들을 한자리에 모으는 다인 하렘 구조</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결과</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투입 대비 가장 낮은 지표</a:t>
                      </a:r>
                    </a:p>
                  </a:txBody>
                  <a:tcPr marL="79200" marR="79200" marT="28800" marB="28800" anchor="ctr">
                    <a:solidFill>
                      <a:srgbClr val="FFFFFF"/>
                    </a:solidFill>
                  </a:tcPr>
                </a:tc>
              </a:tr>
              <a:tr h="583200">
                <a:tc>
                  <a:txBody>
                    <a:bodyPr/>
                    <a:lstStyle/>
                    <a:p>
                      <a:pPr algn="ctr">
                        <a:lnSpc>
                          <a:spcPct val="125000"/>
                        </a:lnSpc>
                      </a:pPr>
                      <a:r>
                        <a:rPr sz="900" b="1">
                          <a:solidFill>
                            <a:srgbClr val="1F4EA8"/>
                          </a:solidFill>
                          <a:latin typeface="맑은 고딕"/>
                        </a:rPr>
                        <a:t>배운 점</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사전 지식이 필요했고, 대화가 분산돼 피로도가 커짐</a:t>
                      </a:r>
                    </a:p>
                  </a:txBody>
                  <a:tcPr marL="79200" marR="79200" marT="28800" marB="28800" anchor="ct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03</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캐릭터 · 프롬프트 설계</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871200"/>
            <a:ext cx="10969200" cy="324000"/>
          </a:xfrm>
          <a:prstGeom prst="rect">
            <a:avLst/>
          </a:prstGeom>
          <a:noFill/>
        </p:spPr>
        <p:txBody>
          <a:bodyPr wrap="square" lIns="0" rIns="0" tIns="0" bIns="0" anchor="t">
            <a:spAutoFit/>
          </a:bodyPr>
          <a:lstStyle/>
          <a:p>
            <a:pPr algn="l">
              <a:lnSpc>
                <a:spcPct val="130000"/>
              </a:lnSpc>
            </a:pPr>
            <a:r>
              <a:rPr sz="1400" b="1">
                <a:solidFill>
                  <a:srgbClr val="1B1E23"/>
                </a:solidFill>
                <a:latin typeface="맑은 고딕"/>
              </a:rPr>
              <a:t>기존 캐릭터 AI의 페르소나가 평면적이라는 점이 가장 큰 문제였습니다.</a:t>
            </a:r>
          </a:p>
        </p:txBody>
      </p:sp>
      <p:sp>
        <p:nvSpPr>
          <p:cNvPr id="7" name="TextBox 6"/>
          <p:cNvSpPr txBox="1"/>
          <p:nvPr/>
        </p:nvSpPr>
        <p:spPr>
          <a:xfrm>
            <a:off x="612000" y="1278000"/>
            <a:ext cx="10969200" cy="468000"/>
          </a:xfrm>
          <a:prstGeom prst="rect">
            <a:avLst/>
          </a:prstGeom>
          <a:noFill/>
        </p:spPr>
        <p:txBody>
          <a:bodyPr wrap="square" lIns="0" rIns="0" tIns="0" bIns="0" anchor="t">
            <a:spAutoFit/>
          </a:bodyPr>
          <a:lstStyle/>
          <a:p>
            <a:pPr algn="l">
              <a:lnSpc>
                <a:spcPct val="130000"/>
              </a:lnSpc>
            </a:pPr>
            <a:r>
              <a:rPr sz="1100" b="0">
                <a:solidFill>
                  <a:srgbClr val="5B6472"/>
                </a:solidFill>
                <a:latin typeface="맑은 고딕"/>
              </a:rPr>
              <a:t>평면적으로 정의된 인물은 응답 모델이 바뀌거나 대화가 길어질수록 자아를 유지하지 못하고, 이용자의 입력에 끌려가 캐릭터성이 흔들립니다. 처음 몇 마디는 그럴듯하지만 몇 턴만 지나면 누구와 이야기하고 있는지 알 수 없게 됩니다.</a:t>
            </a:r>
          </a:p>
        </p:txBody>
      </p:sp>
      <p:sp>
        <p:nvSpPr>
          <p:cNvPr id="8" name="TextBox 7"/>
          <p:cNvSpPr txBox="1"/>
          <p:nvPr/>
        </p:nvSpPr>
        <p:spPr>
          <a:xfrm>
            <a:off x="612000" y="1836000"/>
            <a:ext cx="5340600" cy="234000"/>
          </a:xfrm>
          <a:prstGeom prst="rect">
            <a:avLst/>
          </a:prstGeom>
          <a:noFill/>
        </p:spPr>
        <p:txBody>
          <a:bodyPr wrap="square" lIns="0" rIns="0" tIns="0" bIns="0" anchor="t">
            <a:spAutoFit/>
          </a:bodyPr>
          <a:lstStyle/>
          <a:p>
            <a:pPr algn="l">
              <a:lnSpc>
                <a:spcPct val="130000"/>
              </a:lnSpc>
            </a:pPr>
            <a:r>
              <a:rPr sz="1400" b="1">
                <a:solidFill>
                  <a:srgbClr val="1F4EA8"/>
                </a:solidFill>
                <a:latin typeface="맑은 고딕"/>
              </a:rPr>
              <a:t>스토리 · 세계관 층</a:t>
            </a:r>
          </a:p>
        </p:txBody>
      </p:sp>
      <p:graphicFrame>
        <p:nvGraphicFramePr>
          <p:cNvPr id="9" name="Table 8"/>
          <p:cNvGraphicFramePr>
            <a:graphicFrameLocks noGrp="1"/>
          </p:cNvGraphicFramePr>
          <p:nvPr/>
        </p:nvGraphicFramePr>
        <p:xfrm>
          <a:off x="612000" y="2124000"/>
          <a:ext cx="5340600" cy="2764800"/>
        </p:xfrm>
        <a:graphic>
          <a:graphicData uri="http://schemas.openxmlformats.org/drawingml/2006/table">
            <a:tbl>
              <a:tblPr firstRow="1" bandRow="1">
                <a:tableStyleId>{5C22544A-7EE6-4342-B048-85BDC9FD1C3A}</a:tableStyleId>
              </a:tblPr>
              <a:tblGrid>
                <a:gridCol w="1668938"/>
                <a:gridCol w="3671662"/>
              </a:tblGrid>
              <a:tr h="460800">
                <a:tc>
                  <a:txBody>
                    <a:bodyPr/>
                    <a:lstStyle/>
                    <a:p>
                      <a:pPr algn="ctr">
                        <a:lnSpc>
                          <a:spcPct val="125000"/>
                        </a:lnSpc>
                      </a:pPr>
                      <a:r>
                        <a:rPr sz="950" b="1">
                          <a:solidFill>
                            <a:srgbClr val="1F4EA8"/>
                          </a:solidFill>
                          <a:latin typeface="맑은 고딕"/>
                        </a:rPr>
                        <a:t>1. 세계관 규칙</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시대와 장소, 그 안에서 통하는 제약을 먼저 정합니다.</a:t>
                      </a:r>
                    </a:p>
                  </a:txBody>
                  <a:tcPr marL="79200" marR="79200" marT="28800" marB="28800" anchor="ctr">
                    <a:solidFill>
                      <a:srgbClr val="FFFFFF"/>
                    </a:solidFill>
                  </a:tcPr>
                </a:tc>
              </a:tr>
              <a:tr h="460800">
                <a:tc>
                  <a:txBody>
                    <a:bodyPr/>
                    <a:lstStyle/>
                    <a:p>
                      <a:pPr algn="ctr">
                        <a:lnSpc>
                          <a:spcPct val="125000"/>
                        </a:lnSpc>
                      </a:pPr>
                      <a:r>
                        <a:rPr sz="950" b="1">
                          <a:solidFill>
                            <a:srgbClr val="1F4EA8"/>
                          </a:solidFill>
                          <a:latin typeface="맑은 고딕"/>
                        </a:rPr>
                        <a:t>2. 사건 축</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무엇이 이미 일어났고 무엇이 남아 있는지를 시간순으로 고정합니다.</a:t>
                      </a:r>
                    </a:p>
                  </a:txBody>
                  <a:tcPr marL="79200" marR="79200" marT="28800" marB="28800" anchor="ctr">
                    <a:solidFill>
                      <a:srgbClr val="FFFFFF"/>
                    </a:solidFill>
                  </a:tcPr>
                </a:tc>
              </a:tr>
              <a:tr h="460800">
                <a:tc>
                  <a:txBody>
                    <a:bodyPr/>
                    <a:lstStyle/>
                    <a:p>
                      <a:pPr algn="ctr">
                        <a:lnSpc>
                          <a:spcPct val="125000"/>
                        </a:lnSpc>
                      </a:pPr>
                      <a:r>
                        <a:rPr sz="950" b="1">
                          <a:solidFill>
                            <a:srgbClr val="1F4EA8"/>
                          </a:solidFill>
                          <a:latin typeface="맑은 고딕"/>
                        </a:rPr>
                        <a:t>3. 행동 반경</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인물이 갈 수 있는 장소와 할 수 있는 행동의 범위를 세계관 안에서 정하고, 범위 밖 요청에는 거절 사유를 함께 둡니다.</a:t>
                      </a:r>
                    </a:p>
                  </a:txBody>
                  <a:tcPr marL="79200" marR="79200" marT="28800" marB="28800" anchor="ctr">
                    <a:solidFill>
                      <a:srgbClr val="FFFFFF"/>
                    </a:solidFill>
                  </a:tcPr>
                </a:tc>
              </a:tr>
              <a:tr h="460800">
                <a:tc>
                  <a:txBody>
                    <a:bodyPr/>
                    <a:lstStyle/>
                    <a:p>
                      <a:pPr algn="ctr">
                        <a:lnSpc>
                          <a:spcPct val="125000"/>
                        </a:lnSpc>
                      </a:pPr>
                      <a:r>
                        <a:rPr sz="950" b="1">
                          <a:solidFill>
                            <a:srgbClr val="1F4EA8"/>
                          </a:solidFill>
                          <a:latin typeface="맑은 고딕"/>
                        </a:rPr>
                        <a:t>4. 진행 조건</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어떤 조건이 충족되면 다음 국면으로 넘어가는지를 명시합니다.</a:t>
                      </a:r>
                    </a:p>
                  </a:txBody>
                  <a:tcPr marL="79200" marR="79200" marT="28800" marB="28800" anchor="ctr">
                    <a:solidFill>
                      <a:srgbClr val="FFFFFF"/>
                    </a:solidFill>
                  </a:tcPr>
                </a:tc>
              </a:tr>
              <a:tr h="460800">
                <a:tc>
                  <a:txBody>
                    <a:bodyPr/>
                    <a:lstStyle/>
                    <a:p>
                      <a:pPr algn="ctr">
                        <a:lnSpc>
                          <a:spcPct val="125000"/>
                        </a:lnSpc>
                      </a:pPr>
                      <a:r>
                        <a:rPr sz="950" b="1">
                          <a:solidFill>
                            <a:srgbClr val="1F4EA8"/>
                          </a:solidFill>
                          <a:latin typeface="맑은 고딕"/>
                        </a:rPr>
                        <a:t>5. 금지 전개</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무너지면 이야기가 성립하지 않는 선을 미리 막아 둡니다.</a:t>
                      </a:r>
                    </a:p>
                  </a:txBody>
                  <a:tcPr marL="79200" marR="79200" marT="28800" marB="28800" anchor="ctr">
                    <a:solidFill>
                      <a:srgbClr val="FFFFFF"/>
                    </a:solidFill>
                  </a:tcPr>
                </a:tc>
              </a:tr>
              <a:tr h="460800">
                <a:tc>
                  <a:txBody>
                    <a:bodyPr/>
                    <a:lstStyle/>
                    <a:p>
                      <a:pPr algn="ctr">
                        <a:lnSpc>
                          <a:spcPct val="125000"/>
                        </a:lnSpc>
                      </a:pPr>
                      <a:r>
                        <a:rPr sz="950" b="1">
                          <a:solidFill>
                            <a:srgbClr val="1F4EA8"/>
                          </a:solidFill>
                          <a:latin typeface="맑은 고딕"/>
                        </a:rPr>
                        <a:t>6. 예외 처리</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설정을 벗어난 입력이 들어왔을 때 세계관 안으로 되돌리는 규칙을 둡니다.</a:t>
                      </a:r>
                    </a:p>
                  </a:txBody>
                  <a:tcPr marL="79200" marR="79200" marT="28800" marB="28800" anchor="ctr">
                    <a:solidFill>
                      <a:srgbClr val="FFFFFF"/>
                    </a:solidFill>
                  </a:tcPr>
                </a:tc>
              </a:tr>
            </a:tbl>
          </a:graphicData>
        </a:graphic>
      </p:graphicFrame>
      <p:sp>
        <p:nvSpPr>
          <p:cNvPr id="10" name="TextBox 9"/>
          <p:cNvSpPr txBox="1"/>
          <p:nvPr/>
        </p:nvSpPr>
        <p:spPr>
          <a:xfrm>
            <a:off x="6240600" y="1836000"/>
            <a:ext cx="5340600" cy="234000"/>
          </a:xfrm>
          <a:prstGeom prst="rect">
            <a:avLst/>
          </a:prstGeom>
          <a:noFill/>
        </p:spPr>
        <p:txBody>
          <a:bodyPr wrap="square" lIns="0" rIns="0" tIns="0" bIns="0" anchor="t">
            <a:spAutoFit/>
          </a:bodyPr>
          <a:lstStyle/>
          <a:p>
            <a:pPr algn="l">
              <a:lnSpc>
                <a:spcPct val="130000"/>
              </a:lnSpc>
            </a:pPr>
            <a:r>
              <a:rPr sz="1400" b="1">
                <a:solidFill>
                  <a:srgbClr val="1F4EA8"/>
                </a:solidFill>
                <a:latin typeface="맑은 고딕"/>
              </a:rPr>
              <a:t>캐릭터 페르소나 층</a:t>
            </a:r>
          </a:p>
        </p:txBody>
      </p:sp>
      <p:graphicFrame>
        <p:nvGraphicFramePr>
          <p:cNvPr id="11" name="Table 10"/>
          <p:cNvGraphicFramePr>
            <a:graphicFrameLocks noGrp="1"/>
          </p:cNvGraphicFramePr>
          <p:nvPr/>
        </p:nvGraphicFramePr>
        <p:xfrm>
          <a:off x="6240600" y="2124000"/>
          <a:ext cx="5340600" cy="2700000"/>
        </p:xfrm>
        <a:graphic>
          <a:graphicData uri="http://schemas.openxmlformats.org/drawingml/2006/table">
            <a:tbl>
              <a:tblPr firstRow="1" bandRow="1">
                <a:tableStyleId>{5C22544A-7EE6-4342-B048-85BDC9FD1C3A}</a:tableStyleId>
              </a:tblPr>
              <a:tblGrid>
                <a:gridCol w="1668938"/>
                <a:gridCol w="3671662"/>
              </a:tblGrid>
              <a:tr h="540000">
                <a:tc>
                  <a:txBody>
                    <a:bodyPr/>
                    <a:lstStyle/>
                    <a:p>
                      <a:pPr algn="ctr">
                        <a:lnSpc>
                          <a:spcPct val="125000"/>
                        </a:lnSpc>
                      </a:pPr>
                      <a:r>
                        <a:rPr sz="950" b="1">
                          <a:solidFill>
                            <a:srgbClr val="1F4EA8"/>
                          </a:solidFill>
                          <a:latin typeface="맑은 고딕"/>
                        </a:rPr>
                        <a:t>1. 정체성</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이름·나이·직업·관계를 먼저 고정합니다. 이후 모든 응답의 기준점이 됩니다.</a:t>
                      </a:r>
                    </a:p>
                  </a:txBody>
                  <a:tcPr marL="79200" marR="79200" marT="28800" marB="28800" anchor="ctr">
                    <a:solidFill>
                      <a:srgbClr val="FFFFFF"/>
                    </a:solidFill>
                  </a:tcPr>
                </a:tc>
              </a:tr>
              <a:tr h="540000">
                <a:tc>
                  <a:txBody>
                    <a:bodyPr/>
                    <a:lstStyle/>
                    <a:p>
                      <a:pPr algn="ctr">
                        <a:lnSpc>
                          <a:spcPct val="125000"/>
                        </a:lnSpc>
                      </a:pPr>
                      <a:r>
                        <a:rPr sz="950" b="1">
                          <a:solidFill>
                            <a:srgbClr val="1F4EA8"/>
                          </a:solidFill>
                          <a:latin typeface="맑은 고딕"/>
                        </a:rPr>
                        <a:t>2. 성격 코어</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핵심 성향을 한 문장으로 압축하고, 상황이 바뀌어도 벗어나지 않게 합니다.</a:t>
                      </a:r>
                    </a:p>
                  </a:txBody>
                  <a:tcPr marL="79200" marR="79200" marT="28800" marB="28800" anchor="ctr">
                    <a:solidFill>
                      <a:srgbClr val="FFFFFF"/>
                    </a:solidFill>
                  </a:tcPr>
                </a:tc>
              </a:tr>
              <a:tr h="540000">
                <a:tc>
                  <a:txBody>
                    <a:bodyPr/>
                    <a:lstStyle/>
                    <a:p>
                      <a:pPr algn="ctr">
                        <a:lnSpc>
                          <a:spcPct val="125000"/>
                        </a:lnSpc>
                      </a:pPr>
                      <a:r>
                        <a:rPr sz="950" b="1">
                          <a:solidFill>
                            <a:srgbClr val="1F4EA8"/>
                          </a:solidFill>
                          <a:latin typeface="맑은 고딕"/>
                        </a:rPr>
                        <a:t>3. 감정 팔레트</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낼 수 있는 감정의 범위를 미리 한정합니다. 범위 밖 감정은 나오지 않습니다.</a:t>
                      </a:r>
                    </a:p>
                  </a:txBody>
                  <a:tcPr marL="79200" marR="79200" marT="28800" marB="28800" anchor="ctr">
                    <a:solidFill>
                      <a:srgbClr val="FFFFFF"/>
                    </a:solidFill>
                  </a:tcPr>
                </a:tc>
              </a:tr>
              <a:tr h="540000">
                <a:tc>
                  <a:txBody>
                    <a:bodyPr/>
                    <a:lstStyle/>
                    <a:p>
                      <a:pPr algn="ctr">
                        <a:lnSpc>
                          <a:spcPct val="125000"/>
                        </a:lnSpc>
                      </a:pPr>
                      <a:r>
                        <a:rPr sz="950" b="1">
                          <a:solidFill>
                            <a:srgbClr val="1F4EA8"/>
                          </a:solidFill>
                          <a:latin typeface="맑은 고딕"/>
                        </a:rPr>
                        <a:t>4. 지식 경계</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아는 것과 모르는 것, 알지만 숨기는 것을 나눠 대화의 긴장을 만듭니다.</a:t>
                      </a:r>
                    </a:p>
                  </a:txBody>
                  <a:tcPr marL="79200" marR="79200" marT="28800" marB="28800" anchor="ctr">
                    <a:solidFill>
                      <a:srgbClr val="FFFFFF"/>
                    </a:solidFill>
                  </a:tcPr>
                </a:tc>
              </a:tr>
              <a:tr h="540000">
                <a:tc>
                  <a:txBody>
                    <a:bodyPr/>
                    <a:lstStyle/>
                    <a:p>
                      <a:pPr algn="ctr">
                        <a:lnSpc>
                          <a:spcPct val="125000"/>
                        </a:lnSpc>
                      </a:pPr>
                      <a:r>
                        <a:rPr sz="950" b="1">
                          <a:solidFill>
                            <a:srgbClr val="1F4EA8"/>
                          </a:solidFill>
                          <a:latin typeface="맑은 고딕"/>
                        </a:rPr>
                        <a:t>5. 말투 규칙</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호칭과 어미, 금지 표현, 한 번에 말할 분량을 고정합니다.</a:t>
                      </a:r>
                    </a:p>
                  </a:txBody>
                  <a:tcPr marL="79200" marR="79200" marT="28800" marB="28800" anchor="ctr">
                    <a:solidFill>
                      <a:srgbClr val="FFFFFF"/>
                    </a:solidFill>
                  </a:tcPr>
                </a:tc>
              </a:tr>
            </a:tbl>
          </a:graphicData>
        </a:graphic>
      </p:graphicFrame>
      <p:sp>
        <p:nvSpPr>
          <p:cNvPr id="12" name="Rounded Rectangle 11"/>
          <p:cNvSpPr/>
          <p:nvPr/>
        </p:nvSpPr>
        <p:spPr>
          <a:xfrm>
            <a:off x="612000" y="5993999"/>
            <a:ext cx="10969200" cy="413999"/>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2000" y="6101999"/>
            <a:ext cx="10969200" cy="216000"/>
          </a:xfrm>
          <a:prstGeom prst="rect">
            <a:avLst/>
          </a:prstGeom>
          <a:noFill/>
        </p:spPr>
        <p:txBody>
          <a:bodyPr wrap="square" lIns="0" rIns="0" tIns="0" bIns="0" anchor="t">
            <a:spAutoFit/>
          </a:bodyPr>
          <a:lstStyle/>
          <a:p>
            <a:pPr algn="ctr">
              <a:lnSpc>
                <a:spcPct val="130000"/>
              </a:lnSpc>
            </a:pPr>
            <a:r>
              <a:rPr sz="1250" b="1">
                <a:solidFill>
                  <a:srgbClr val="1F4EA8"/>
                </a:solidFill>
                <a:latin typeface="맑은 고딕"/>
              </a:rPr>
              <a:t>최종적으로는 모순이 없는 세계관 안에서 유연하게 반응하면서도 자아를 잃지 않는 캐릭터를 만드는 것을 목표로 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04</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작성 규격 — 실제 입력 양식</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871200"/>
            <a:ext cx="10969200" cy="324000"/>
          </a:xfrm>
          <a:prstGeom prst="rect">
            <a:avLst/>
          </a:prstGeom>
          <a:noFill/>
        </p:spPr>
        <p:txBody>
          <a:bodyPr wrap="square" lIns="0" rIns="0" tIns="0" bIns="0" anchor="t">
            <a:spAutoFit/>
          </a:bodyPr>
          <a:lstStyle/>
          <a:p>
            <a:pPr algn="l">
              <a:lnSpc>
                <a:spcPct val="130000"/>
              </a:lnSpc>
            </a:pPr>
            <a:r>
              <a:rPr sz="1400" b="1">
                <a:solidFill>
                  <a:srgbClr val="1B1E23"/>
                </a:solidFill>
                <a:latin typeface="맑은 고딕"/>
              </a:rPr>
              <a:t>설계한 내용은 아래 규격으로 고정해 씁니다. 항목 이름과 순서를 작품마다 동일하게 유지합니다.</a:t>
            </a:r>
          </a:p>
        </p:txBody>
      </p:sp>
      <p:sp>
        <p:nvSpPr>
          <p:cNvPr id="7" name="TextBox 6"/>
          <p:cNvSpPr txBox="1"/>
          <p:nvPr/>
        </p:nvSpPr>
        <p:spPr>
          <a:xfrm>
            <a:off x="612000" y="1278000"/>
            <a:ext cx="5322600" cy="216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캐릭터 페르소나 — 5개 필드 + 예시 대사</a:t>
            </a:r>
          </a:p>
        </p:txBody>
      </p:sp>
      <p:sp>
        <p:nvSpPr>
          <p:cNvPr id="8" name="Rounded Rectangle 7"/>
          <p:cNvSpPr/>
          <p:nvPr/>
        </p:nvSpPr>
        <p:spPr>
          <a:xfrm>
            <a:off x="612000" y="1537200"/>
            <a:ext cx="5322600" cy="1692000"/>
          </a:xfrm>
          <a:prstGeom prst="roundRect">
            <a:avLst>
              <a:gd name="adj" fmla="val 3000"/>
            </a:avLst>
          </a:prstGeom>
          <a:solidFill>
            <a:srgbClr val="F7F9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56000" y="1638000"/>
            <a:ext cx="5034600" cy="1512000"/>
          </a:xfrm>
          <a:prstGeom prst="rect">
            <a:avLst/>
          </a:prstGeom>
          <a:noFill/>
        </p:spPr>
        <p:txBody>
          <a:bodyPr wrap="none" lIns="0" rIns="0" tIns="0" bIns="0">
            <a:spAutoFit/>
          </a:bodyPr>
          <a:lstStyle/>
          <a:p>
            <a:pPr>
              <a:lnSpc>
                <a:spcPct val="132000"/>
              </a:lnSpc>
            </a:pPr>
            <a:r>
              <a:rPr sz="850">
                <a:solidFill>
                  <a:srgbClr val="33404F"/>
                </a:solidFill>
                <a:latin typeface="D2Coding"/>
              </a:rPr>
              <a:t>## 박민지 info</a:t>
            </a:r>
          </a:p>
          <a:p>
            <a:pPr>
              <a:lnSpc>
                <a:spcPct val="132000"/>
              </a:lnSpc>
            </a:pPr>
            <a:r>
              <a:rPr sz="850">
                <a:solidFill>
                  <a:srgbClr val="33404F"/>
                </a:solidFill>
                <a:latin typeface="D2Coding"/>
              </a:rPr>
              <a:t>INFO          22세 · ESTP-A · 헬스 트레이너 · {{user}}의 20년 소꿉친구</a:t>
            </a:r>
          </a:p>
          <a:p>
            <a:pPr>
              <a:lnSpc>
                <a:spcPct val="132000"/>
              </a:lnSpc>
            </a:pPr>
            <a:r>
              <a:rPr sz="850">
                <a:solidFill>
                  <a:srgbClr val="33404F"/>
                </a:solidFill>
                <a:latin typeface="D2Coding"/>
              </a:rPr>
              <a:t>LOOK          검은 단발 · 눈 밑 점 · 178cm · 유도 선수 출신 체격</a:t>
            </a:r>
          </a:p>
          <a:p>
            <a:pPr>
              <a:lnSpc>
                <a:spcPct val="132000"/>
              </a:lnSpc>
            </a:pPr>
            <a:r>
              <a:rPr sz="850">
                <a:solidFill>
                  <a:srgbClr val="33404F"/>
                </a:solidFill>
                <a:latin typeface="D2Coding"/>
              </a:rPr>
              <a:t>PERSONALITY   직진형 · 뒤끝 없음 · 애정 표현이 핀잔으로 나옴</a:t>
            </a:r>
          </a:p>
          <a:p>
            <a:pPr>
              <a:lnSpc>
                <a:spcPct val="132000"/>
              </a:lnSpc>
            </a:pPr>
            <a:r>
              <a:rPr sz="850">
                <a:solidFill>
                  <a:srgbClr val="33404F"/>
                </a:solidFill>
                <a:latin typeface="D2Coding"/>
              </a:rPr>
              <a:t>HEART         {{user}}를 좋아함. 모든 핀잔이 그 위장 —</a:t>
            </a:r>
          </a:p>
          <a:p>
            <a:pPr>
              <a:lnSpc>
                <a:spcPct val="132000"/>
              </a:lnSpc>
            </a:pPr>
            <a:r>
              <a:rPr sz="850">
                <a:solidFill>
                  <a:srgbClr val="33404F"/>
                </a:solidFill>
                <a:latin typeface="D2Coding"/>
              </a:rPr>
              <a:t>              들키는 것이 거절보다 무섭다</a:t>
            </a:r>
          </a:p>
          <a:p>
            <a:pPr>
              <a:lnSpc>
                <a:spcPct val="132000"/>
              </a:lnSpc>
            </a:pPr>
            <a:r>
              <a:rPr sz="850">
                <a:solidFill>
                  <a:srgbClr val="33404F"/>
                </a:solidFill>
                <a:latin typeface="D2Coding"/>
              </a:rPr>
              <a:t>SPEECH        거친 반말 · 짧은 문장 · 목소리 큼</a:t>
            </a:r>
          </a:p>
          <a:p>
            <a:pPr>
              <a:lnSpc>
                <a:spcPct val="132000"/>
              </a:lnSpc>
            </a:pPr>
            <a:r>
              <a:rPr sz="850">
                <a:solidFill>
                  <a:srgbClr val="33404F"/>
                </a:solidFill>
                <a:latin typeface="D2Coding"/>
              </a:rPr>
              <a:t>e.g           "야이! 씨. 왜! 나는 여자로 안 보이냐?!!"</a:t>
            </a:r>
          </a:p>
        </p:txBody>
      </p:sp>
      <p:graphicFrame>
        <p:nvGraphicFramePr>
          <p:cNvPr id="10" name="Table 9"/>
          <p:cNvGraphicFramePr>
            <a:graphicFrameLocks noGrp="1"/>
          </p:cNvGraphicFramePr>
          <p:nvPr/>
        </p:nvGraphicFramePr>
        <p:xfrm>
          <a:off x="612000" y="3312000"/>
          <a:ext cx="5322600" cy="1134000"/>
        </p:xfrm>
        <a:graphic>
          <a:graphicData uri="http://schemas.openxmlformats.org/drawingml/2006/table">
            <a:tbl>
              <a:tblPr firstRow="1" bandRow="1">
                <a:tableStyleId>{5C22544A-7EE6-4342-B048-85BDC9FD1C3A}</a:tableStyleId>
              </a:tblPr>
              <a:tblGrid>
                <a:gridCol w="1537640"/>
                <a:gridCol w="3784960"/>
              </a:tblGrid>
              <a:tr h="378000">
                <a:tc>
                  <a:txBody>
                    <a:bodyPr/>
                    <a:lstStyle/>
                    <a:p>
                      <a:pPr algn="ctr">
                        <a:lnSpc>
                          <a:spcPct val="125000"/>
                        </a:lnSpc>
                      </a:pPr>
                      <a:r>
                        <a:rPr sz="900" b="1">
                          <a:solidFill>
                            <a:srgbClr val="1F4EA8"/>
                          </a:solidFill>
                          <a:latin typeface="맑은 고딕"/>
                        </a:rPr>
                        <a:t>INFO · LOOK</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바뀌지 않는 값. 모든 응답이 여기로 돌아옵니다.</a:t>
                      </a:r>
                    </a:p>
                  </a:txBody>
                  <a:tcPr marL="79200" marR="79200" marT="28800" marB="28800" anchor="ctr">
                    <a:solidFill>
                      <a:srgbClr val="FFFFFF"/>
                    </a:solidFill>
                  </a:tcPr>
                </a:tc>
              </a:tr>
              <a:tr h="378000">
                <a:tc>
                  <a:txBody>
                    <a:bodyPr/>
                    <a:lstStyle/>
                    <a:p>
                      <a:pPr algn="ctr">
                        <a:lnSpc>
                          <a:spcPct val="125000"/>
                        </a:lnSpc>
                      </a:pPr>
                      <a:r>
                        <a:rPr sz="900" b="1">
                          <a:solidFill>
                            <a:srgbClr val="1F4EA8"/>
                          </a:solidFill>
                          <a:latin typeface="맑은 고딕"/>
                        </a:rPr>
                        <a:t>HEART</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겉으로 드러내지 않는 동기. 대사와 반대로 적습니다.</a:t>
                      </a:r>
                    </a:p>
                  </a:txBody>
                  <a:tcPr marL="79200" marR="79200" marT="28800" marB="28800" anchor="ctr">
                    <a:solidFill>
                      <a:srgbClr val="FFFFFF"/>
                    </a:solidFill>
                  </a:tcPr>
                </a:tc>
              </a:tr>
              <a:tr h="378000">
                <a:tc>
                  <a:txBody>
                    <a:bodyPr/>
                    <a:lstStyle/>
                    <a:p>
                      <a:pPr algn="ctr">
                        <a:lnSpc>
                          <a:spcPct val="125000"/>
                        </a:lnSpc>
                      </a:pPr>
                      <a:r>
                        <a:rPr sz="900" b="1">
                          <a:solidFill>
                            <a:srgbClr val="1F4EA8"/>
                          </a:solidFill>
                          <a:latin typeface="맑은 고딕"/>
                        </a:rPr>
                        <a:t>SPEECH · e.g</a:t>
                      </a:r>
                    </a:p>
                  </a:txBody>
                  <a:tcPr marL="79200" marR="79200" marT="28800" marB="28800" anchor="ctr">
                    <a:solidFill>
                      <a:srgbClr val="FAFBFD"/>
                    </a:solidFill>
                  </a:tcPr>
                </a:tc>
                <a:tc>
                  <a:txBody>
                    <a:bodyPr/>
                    <a:lstStyle/>
                    <a:p>
                      <a:pPr algn="l">
                        <a:lnSpc>
                          <a:spcPct val="125000"/>
                        </a:lnSpc>
                      </a:pPr>
                      <a:r>
                        <a:rPr sz="900" b="0">
                          <a:solidFill>
                            <a:srgbClr val="1B1E23"/>
                          </a:solidFill>
                          <a:latin typeface="맑은 고딕"/>
                        </a:rPr>
                        <a:t>어투를 설명하지 않고 실제 대사로 고정합니다.</a:t>
                      </a:r>
                    </a:p>
                  </a:txBody>
                  <a:tcPr marL="79200" marR="79200" marT="28800" marB="28800" anchor="ctr">
                    <a:solidFill>
                      <a:srgbClr val="FFFFFF"/>
                    </a:solidFill>
                  </a:tcPr>
                </a:tc>
              </a:tr>
            </a:tbl>
          </a:graphicData>
        </a:graphic>
      </p:graphicFrame>
      <p:sp>
        <p:nvSpPr>
          <p:cNvPr id="11" name="TextBox 10"/>
          <p:cNvSpPr txBox="1"/>
          <p:nvPr/>
        </p:nvSpPr>
        <p:spPr>
          <a:xfrm>
            <a:off x="6258600" y="1278000"/>
            <a:ext cx="5322600" cy="216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세계관 · 진행 규칙 — 6개 블록</a:t>
            </a:r>
          </a:p>
        </p:txBody>
      </p:sp>
      <p:graphicFrame>
        <p:nvGraphicFramePr>
          <p:cNvPr id="12" name="Table 11"/>
          <p:cNvGraphicFramePr>
            <a:graphicFrameLocks noGrp="1"/>
          </p:cNvGraphicFramePr>
          <p:nvPr/>
        </p:nvGraphicFramePr>
        <p:xfrm>
          <a:off x="6258600" y="1537200"/>
          <a:ext cx="5322600" cy="3240000"/>
        </p:xfrm>
        <a:graphic>
          <a:graphicData uri="http://schemas.openxmlformats.org/drawingml/2006/table">
            <a:tbl>
              <a:tblPr firstRow="1" bandRow="1">
                <a:tableStyleId>{5C22544A-7EE6-4342-B048-85BDC9FD1C3A}</a:tableStyleId>
              </a:tblPr>
              <a:tblGrid>
                <a:gridCol w="1935491"/>
                <a:gridCol w="3387109"/>
              </a:tblGrid>
              <a:tr h="540000">
                <a:tc>
                  <a:txBody>
                    <a:bodyPr/>
                    <a:lstStyle/>
                    <a:p>
                      <a:pPr algn="ctr">
                        <a:lnSpc>
                          <a:spcPct val="125000"/>
                        </a:lnSpc>
                      </a:pPr>
                      <a:r>
                        <a:rPr sz="1050" b="1">
                          <a:solidFill>
                            <a:srgbClr val="1F4EA8"/>
                          </a:solidFill>
                          <a:latin typeface="맑은 고딕"/>
                        </a:rPr>
                        <a:t>## Overview</a:t>
                      </a:r>
                    </a:p>
                  </a:txBody>
                  <a:tcPr marL="79200" marR="79200" marT="28800" marB="28800" anchor="ctr">
                    <a:solidFill>
                      <a:srgbClr val="FAFBFD"/>
                    </a:solidFill>
                  </a:tcPr>
                </a:tc>
                <a:tc>
                  <a:txBody>
                    <a:bodyPr/>
                    <a:lstStyle/>
                    <a:p>
                      <a:pPr algn="l">
                        <a:lnSpc>
                          <a:spcPct val="125000"/>
                        </a:lnSpc>
                      </a:pPr>
                      <a:r>
                        <a:rPr sz="1050" b="0">
                          <a:solidFill>
                            <a:srgbClr val="1B1E23"/>
                          </a:solidFill>
                          <a:latin typeface="맑은 고딕"/>
                        </a:rPr>
                        <a:t>장르 · 톤 · 페이싱 · 배경 · 핵심 논리</a:t>
                      </a:r>
                    </a:p>
                  </a:txBody>
                  <a:tcPr marL="79200" marR="79200" marT="28800" marB="28800" anchor="ctr">
                    <a:solidFill>
                      <a:srgbClr val="FFFFFF"/>
                    </a:solidFill>
                  </a:tcPr>
                </a:tc>
              </a:tr>
              <a:tr h="540000">
                <a:tc>
                  <a:txBody>
                    <a:bodyPr/>
                    <a:lstStyle/>
                    <a:p>
                      <a:pPr algn="ctr">
                        <a:lnSpc>
                          <a:spcPct val="125000"/>
                        </a:lnSpc>
                      </a:pPr>
                      <a:r>
                        <a:rPr sz="1050" b="1">
                          <a:solidFill>
                            <a:srgbClr val="1F4EA8"/>
                          </a:solidFill>
                          <a:latin typeface="맑은 고딕"/>
                        </a:rPr>
                        <a:t>## Story Goal</a:t>
                      </a:r>
                    </a:p>
                  </a:txBody>
                  <a:tcPr marL="79200" marR="79200" marT="28800" marB="28800" anchor="ctr">
                    <a:solidFill>
                      <a:srgbClr val="FAFBFD"/>
                    </a:solidFill>
                  </a:tcPr>
                </a:tc>
                <a:tc>
                  <a:txBody>
                    <a:bodyPr/>
                    <a:lstStyle/>
                    <a:p>
                      <a:pPr algn="l">
                        <a:lnSpc>
                          <a:spcPct val="125000"/>
                        </a:lnSpc>
                      </a:pPr>
                      <a:r>
                        <a:rPr sz="1050" b="0">
                          <a:solidFill>
                            <a:srgbClr val="1B1E23"/>
                          </a:solidFill>
                          <a:latin typeface="맑은 고딕"/>
                        </a:rPr>
                        <a:t>이야기가 향하는 지점</a:t>
                      </a:r>
                    </a:p>
                  </a:txBody>
                  <a:tcPr marL="79200" marR="79200" marT="28800" marB="28800" anchor="ctr">
                    <a:solidFill>
                      <a:srgbClr val="FFFFFF"/>
                    </a:solidFill>
                  </a:tcPr>
                </a:tc>
              </a:tr>
              <a:tr h="540000">
                <a:tc>
                  <a:txBody>
                    <a:bodyPr/>
                    <a:lstStyle/>
                    <a:p>
                      <a:pPr algn="ctr">
                        <a:lnSpc>
                          <a:spcPct val="125000"/>
                        </a:lnSpc>
                      </a:pPr>
                      <a:r>
                        <a:rPr sz="1050" b="1">
                          <a:solidFill>
                            <a:srgbClr val="1F4EA8"/>
                          </a:solidFill>
                          <a:latin typeface="맑은 고딕"/>
                        </a:rPr>
                        <a:t>## Core Experience</a:t>
                      </a:r>
                    </a:p>
                  </a:txBody>
                  <a:tcPr marL="79200" marR="79200" marT="28800" marB="28800" anchor="ctr">
                    <a:solidFill>
                      <a:srgbClr val="FAFBFD"/>
                    </a:solidFill>
                  </a:tcPr>
                </a:tc>
                <a:tc>
                  <a:txBody>
                    <a:bodyPr/>
                    <a:lstStyle/>
                    <a:p>
                      <a:pPr algn="l">
                        <a:lnSpc>
                          <a:spcPct val="125000"/>
                        </a:lnSpc>
                      </a:pPr>
                      <a:r>
                        <a:rPr sz="1050" b="0">
                          <a:solidFill>
                            <a:srgbClr val="1B1E23"/>
                          </a:solidFill>
                          <a:latin typeface="맑은 고딕"/>
                        </a:rPr>
                        <a:t>이용자의 위치 · 반복 루프 · 상승 장치</a:t>
                      </a:r>
                    </a:p>
                  </a:txBody>
                  <a:tcPr marL="79200" marR="79200" marT="28800" marB="28800" anchor="ctr">
                    <a:solidFill>
                      <a:srgbClr val="FFFFFF"/>
                    </a:solidFill>
                  </a:tcPr>
                </a:tc>
              </a:tr>
              <a:tr h="540000">
                <a:tc>
                  <a:txBody>
                    <a:bodyPr/>
                    <a:lstStyle/>
                    <a:p>
                      <a:pPr algn="ctr">
                        <a:lnSpc>
                          <a:spcPct val="125000"/>
                        </a:lnSpc>
                      </a:pPr>
                      <a:r>
                        <a:rPr sz="1050" b="1">
                          <a:solidFill>
                            <a:srgbClr val="1F4EA8"/>
                          </a:solidFill>
                          <a:latin typeface="맑은 고딕"/>
                        </a:rPr>
                        <a:t>## Absolute Rules</a:t>
                      </a:r>
                    </a:p>
                  </a:txBody>
                  <a:tcPr marL="79200" marR="79200" marT="28800" marB="28800" anchor="ctr">
                    <a:solidFill>
                      <a:srgbClr val="FAFBFD"/>
                    </a:solidFill>
                  </a:tcPr>
                </a:tc>
                <a:tc>
                  <a:txBody>
                    <a:bodyPr/>
                    <a:lstStyle/>
                    <a:p>
                      <a:pPr algn="l">
                        <a:lnSpc>
                          <a:spcPct val="125000"/>
                        </a:lnSpc>
                      </a:pPr>
                      <a:r>
                        <a:rPr sz="1050" b="0">
                          <a:solidFill>
                            <a:srgbClr val="1B1E23"/>
                          </a:solidFill>
                          <a:latin typeface="맑은 고딕"/>
                        </a:rPr>
                        <a:t>무너지면 안 되는 선</a:t>
                      </a:r>
                    </a:p>
                  </a:txBody>
                  <a:tcPr marL="79200" marR="79200" marT="28800" marB="28800" anchor="ctr">
                    <a:solidFill>
                      <a:srgbClr val="FFFFFF"/>
                    </a:solidFill>
                  </a:tcPr>
                </a:tc>
              </a:tr>
              <a:tr h="540000">
                <a:tc>
                  <a:txBody>
                    <a:bodyPr/>
                    <a:lstStyle/>
                    <a:p>
                      <a:pPr algn="ctr">
                        <a:lnSpc>
                          <a:spcPct val="125000"/>
                        </a:lnSpc>
                      </a:pPr>
                      <a:r>
                        <a:rPr sz="1050" b="1">
                          <a:solidFill>
                            <a:srgbClr val="1F4EA8"/>
                          </a:solidFill>
                          <a:latin typeface="맑은 고딕"/>
                        </a:rPr>
                        <a:t>## Opening Situation</a:t>
                      </a:r>
                    </a:p>
                  </a:txBody>
                  <a:tcPr marL="79200" marR="79200" marT="28800" marB="28800" anchor="ctr">
                    <a:solidFill>
                      <a:srgbClr val="FAFBFD"/>
                    </a:solidFill>
                  </a:tcPr>
                </a:tc>
                <a:tc>
                  <a:txBody>
                    <a:bodyPr/>
                    <a:lstStyle/>
                    <a:p>
                      <a:pPr algn="l">
                        <a:lnSpc>
                          <a:spcPct val="125000"/>
                        </a:lnSpc>
                      </a:pPr>
                      <a:r>
                        <a:rPr sz="1050" b="0">
                          <a:solidFill>
                            <a:srgbClr val="1B1E23"/>
                          </a:solidFill>
                          <a:latin typeface="맑은 고딕"/>
                        </a:rPr>
                        <a:t>첫 장면의 상태</a:t>
                      </a:r>
                    </a:p>
                  </a:txBody>
                  <a:tcPr marL="79200" marR="79200" marT="28800" marB="28800" anchor="ctr">
                    <a:solidFill>
                      <a:srgbClr val="FFFFFF"/>
                    </a:solidFill>
                  </a:tcPr>
                </a:tc>
              </a:tr>
              <a:tr h="540000">
                <a:tc>
                  <a:txBody>
                    <a:bodyPr/>
                    <a:lstStyle/>
                    <a:p>
                      <a:pPr algn="ctr">
                        <a:lnSpc>
                          <a:spcPct val="125000"/>
                        </a:lnSpc>
                      </a:pPr>
                      <a:r>
                        <a:rPr sz="1050" b="1">
                          <a:solidFill>
                            <a:srgbClr val="1F4EA8"/>
                          </a:solidFill>
                          <a:latin typeface="맑은 고딕"/>
                        </a:rPr>
                        <a:t>## Characters</a:t>
                      </a:r>
                    </a:p>
                  </a:txBody>
                  <a:tcPr marL="79200" marR="79200" marT="28800" marB="28800" anchor="ctr">
                    <a:solidFill>
                      <a:srgbClr val="FAFBFD"/>
                    </a:solidFill>
                  </a:tcPr>
                </a:tc>
                <a:tc>
                  <a:txBody>
                    <a:bodyPr/>
                    <a:lstStyle/>
                    <a:p>
                      <a:pPr algn="l">
                        <a:lnSpc>
                          <a:spcPct val="125000"/>
                        </a:lnSpc>
                      </a:pPr>
                      <a:r>
                        <a:rPr sz="1050" b="0">
                          <a:solidFill>
                            <a:srgbClr val="1B1E23"/>
                          </a:solidFill>
                          <a:latin typeface="맑은 고딕"/>
                        </a:rPr>
                        <a:t>인물 정보 · 관계도</a:t>
                      </a:r>
                    </a:p>
                  </a:txBody>
                  <a:tcPr marL="79200" marR="79200" marT="28800" marB="28800" anchor="ctr">
                    <a:solidFill>
                      <a:srgbClr val="FFFFFF"/>
                    </a:solidFill>
                  </a:tcPr>
                </a:tc>
              </a:tr>
            </a:tbl>
          </a:graphicData>
        </a:graphic>
      </p:graphicFrame>
      <p:sp>
        <p:nvSpPr>
          <p:cNvPr id="13" name="Rounded Rectangle 12"/>
          <p:cNvSpPr/>
          <p:nvPr/>
        </p:nvSpPr>
        <p:spPr>
          <a:xfrm>
            <a:off x="612000" y="5543999"/>
            <a:ext cx="3488401" cy="9000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12000" y="5543999"/>
            <a:ext cx="46800" cy="900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000" y="5637599"/>
            <a:ext cx="3200401" cy="180000"/>
          </a:xfrm>
          <a:prstGeom prst="rect">
            <a:avLst/>
          </a:prstGeom>
          <a:noFill/>
        </p:spPr>
        <p:txBody>
          <a:bodyPr wrap="square" lIns="0" rIns="0" tIns="0" bIns="0" anchor="t">
            <a:spAutoFit/>
          </a:bodyPr>
          <a:lstStyle/>
          <a:p>
            <a:pPr algn="l">
              <a:lnSpc>
                <a:spcPct val="130000"/>
              </a:lnSpc>
            </a:pPr>
            <a:r>
              <a:rPr sz="1150" b="1">
                <a:solidFill>
                  <a:srgbClr val="1F4EA8"/>
                </a:solidFill>
                <a:latin typeface="맑은 고딕"/>
              </a:rPr>
              <a:t>층을 나눠 쓴다</a:t>
            </a:r>
          </a:p>
        </p:txBody>
      </p:sp>
      <p:sp>
        <p:nvSpPr>
          <p:cNvPr id="16" name="TextBox 15"/>
          <p:cNvSpPr txBox="1"/>
          <p:nvPr/>
        </p:nvSpPr>
        <p:spPr>
          <a:xfrm>
            <a:off x="774000" y="5860799"/>
            <a:ext cx="3200401" cy="503999"/>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세계관이 먼저 서고 인물이 그 위에 올라갑니다. 순서를 지키면 인물이 세계관을 넘지 않습니다.</a:t>
            </a:r>
          </a:p>
        </p:txBody>
      </p:sp>
      <p:sp>
        <p:nvSpPr>
          <p:cNvPr id="17" name="Rounded Rectangle 16"/>
          <p:cNvSpPr/>
          <p:nvPr/>
        </p:nvSpPr>
        <p:spPr>
          <a:xfrm>
            <a:off x="4352400" y="5543999"/>
            <a:ext cx="3488401" cy="9000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352400" y="5543999"/>
            <a:ext cx="46800" cy="900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14400" y="5637599"/>
            <a:ext cx="3200401" cy="180000"/>
          </a:xfrm>
          <a:prstGeom prst="rect">
            <a:avLst/>
          </a:prstGeom>
          <a:noFill/>
        </p:spPr>
        <p:txBody>
          <a:bodyPr wrap="square" lIns="0" rIns="0" tIns="0" bIns="0" anchor="t">
            <a:spAutoFit/>
          </a:bodyPr>
          <a:lstStyle/>
          <a:p>
            <a:pPr algn="l">
              <a:lnSpc>
                <a:spcPct val="130000"/>
              </a:lnSpc>
            </a:pPr>
            <a:r>
              <a:rPr sz="1150" b="1">
                <a:solidFill>
                  <a:srgbClr val="1F4EA8"/>
                </a:solidFill>
                <a:latin typeface="맑은 고딕"/>
              </a:rPr>
              <a:t>금지가 아니라 붕괴 방지</a:t>
            </a:r>
          </a:p>
        </p:txBody>
      </p:sp>
      <p:sp>
        <p:nvSpPr>
          <p:cNvPr id="20" name="TextBox 19"/>
          <p:cNvSpPr txBox="1"/>
          <p:nvPr/>
        </p:nvSpPr>
        <p:spPr>
          <a:xfrm>
            <a:off x="4514400" y="5860799"/>
            <a:ext cx="3200401" cy="503999"/>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Absolute Rules 는 소재를 막는 항목이 아니라, 인물이 자기보다 능숙해지는 것을 막는 장치입니다.</a:t>
            </a:r>
          </a:p>
        </p:txBody>
      </p:sp>
      <p:sp>
        <p:nvSpPr>
          <p:cNvPr id="21" name="Rounded Rectangle 20"/>
          <p:cNvSpPr/>
          <p:nvPr/>
        </p:nvSpPr>
        <p:spPr>
          <a:xfrm>
            <a:off x="8092799" y="5543999"/>
            <a:ext cx="3488401" cy="9000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092799" y="5543999"/>
            <a:ext cx="46800" cy="900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54799" y="5637599"/>
            <a:ext cx="3200401" cy="180000"/>
          </a:xfrm>
          <a:prstGeom prst="rect">
            <a:avLst/>
          </a:prstGeom>
          <a:noFill/>
        </p:spPr>
        <p:txBody>
          <a:bodyPr wrap="square" lIns="0" rIns="0" tIns="0" bIns="0" anchor="t">
            <a:spAutoFit/>
          </a:bodyPr>
          <a:lstStyle/>
          <a:p>
            <a:pPr algn="l">
              <a:lnSpc>
                <a:spcPct val="130000"/>
              </a:lnSpc>
            </a:pPr>
            <a:r>
              <a:rPr sz="1150" b="1">
                <a:solidFill>
                  <a:srgbClr val="1F4EA8"/>
                </a:solidFill>
                <a:latin typeface="맑은 고딕"/>
              </a:rPr>
              <a:t>진행 권한은 이용자에게</a:t>
            </a:r>
          </a:p>
        </p:txBody>
      </p:sp>
      <p:sp>
        <p:nvSpPr>
          <p:cNvPr id="24" name="TextBox 23"/>
          <p:cNvSpPr txBox="1"/>
          <p:nvPr/>
        </p:nvSpPr>
        <p:spPr>
          <a:xfrm>
            <a:off x="8254799" y="5860799"/>
            <a:ext cx="3200401" cy="503999"/>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루프의 분기를 전부 이용자 선택으로 두어, 피로감 없이 능동성이 유지되게 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05</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제작 과정의 문제와 해결</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871200"/>
            <a:ext cx="10969200" cy="324000"/>
          </a:xfrm>
          <a:prstGeom prst="rect">
            <a:avLst/>
          </a:prstGeom>
          <a:noFill/>
        </p:spPr>
        <p:txBody>
          <a:bodyPr wrap="square" lIns="0" rIns="0" tIns="0" bIns="0" anchor="t">
            <a:spAutoFit/>
          </a:bodyPr>
          <a:lstStyle/>
          <a:p>
            <a:pPr algn="l">
              <a:lnSpc>
                <a:spcPct val="130000"/>
              </a:lnSpc>
            </a:pPr>
            <a:r>
              <a:rPr sz="1400" b="1">
                <a:solidFill>
                  <a:srgbClr val="1B1E23"/>
                </a:solidFill>
                <a:latin typeface="맑은 고딕"/>
              </a:rPr>
              <a:t>두 가지 문제를 지표로 확인하고 원칙과 도구로 각각 해결했습니다.</a:t>
            </a:r>
          </a:p>
        </p:txBody>
      </p:sp>
      <p:sp>
        <p:nvSpPr>
          <p:cNvPr id="7" name="TextBox 6"/>
          <p:cNvSpPr txBox="1"/>
          <p:nvPr/>
        </p:nvSpPr>
        <p:spPr>
          <a:xfrm>
            <a:off x="612000" y="1278000"/>
            <a:ext cx="5286600" cy="180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CASE 1</a:t>
            </a:r>
          </a:p>
        </p:txBody>
      </p:sp>
      <p:sp>
        <p:nvSpPr>
          <p:cNvPr id="8" name="TextBox 7"/>
          <p:cNvSpPr txBox="1"/>
          <p:nvPr/>
        </p:nvSpPr>
        <p:spPr>
          <a:xfrm>
            <a:off x="612000" y="1465200"/>
            <a:ext cx="5286600" cy="306000"/>
          </a:xfrm>
          <a:prstGeom prst="rect">
            <a:avLst/>
          </a:prstGeom>
          <a:noFill/>
        </p:spPr>
        <p:txBody>
          <a:bodyPr wrap="square" lIns="0" rIns="0" tIns="0" bIns="0" anchor="t">
            <a:spAutoFit/>
          </a:bodyPr>
          <a:lstStyle/>
          <a:p>
            <a:pPr algn="l">
              <a:lnSpc>
                <a:spcPct val="130000"/>
              </a:lnSpc>
            </a:pPr>
            <a:r>
              <a:rPr sz="1600" b="1">
                <a:solidFill>
                  <a:srgbClr val="1B1E23"/>
                </a:solidFill>
                <a:latin typeface="맑은 고딕"/>
              </a:rPr>
              <a:t>조회수가 들쭉날쭉했습니다</a:t>
            </a:r>
          </a:p>
        </p:txBody>
      </p:sp>
      <p:sp>
        <p:nvSpPr>
          <p:cNvPr id="9" name="Rounded Rectangle 8"/>
          <p:cNvSpPr/>
          <p:nvPr/>
        </p:nvSpPr>
        <p:spPr>
          <a:xfrm>
            <a:off x="612000" y="1872000"/>
            <a:ext cx="5286600" cy="540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4000" y="1872000"/>
            <a:ext cx="4962600" cy="540000"/>
          </a:xfrm>
          <a:prstGeom prst="rect">
            <a:avLst/>
          </a:prstGeom>
          <a:noFill/>
        </p:spPr>
        <p:txBody>
          <a:bodyPr wrap="square" lIns="0" rIns="0" tIns="0" bIns="0" anchor="ctr">
            <a:spAutoFit/>
          </a:bodyPr>
          <a:lstStyle/>
          <a:p>
            <a:pPr algn="l">
              <a:lnSpc>
                <a:spcPct val="130000"/>
              </a:lnSpc>
            </a:pPr>
            <a:r>
              <a:rPr sz="950" b="0">
                <a:solidFill>
                  <a:srgbClr val="5B6472"/>
                </a:solidFill>
                <a:latin typeface="맑은 고딕"/>
              </a:rPr>
              <a:t>작품마다 지표 편차가 컸고, 무엇이 성패를 갈랐는지 설명할 수 없었습니다.</a:t>
            </a:r>
          </a:p>
        </p:txBody>
      </p:sp>
      <p:sp>
        <p:nvSpPr>
          <p:cNvPr id="11" name="TextBox 10"/>
          <p:cNvSpPr txBox="1"/>
          <p:nvPr/>
        </p:nvSpPr>
        <p:spPr>
          <a:xfrm>
            <a:off x="612000" y="2538000"/>
            <a:ext cx="5286600" cy="612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접속 시간대 · 편당 챗 · 누적 챗을 함께 비교 → 방향은 고정하되 그 안의 선택은 자유로운 구조로 원칙을 바꿈</a:t>
            </a:r>
          </a:p>
        </p:txBody>
      </p:sp>
      <p:sp>
        <p:nvSpPr>
          <p:cNvPr id="12" name="TextBox 11"/>
          <p:cNvSpPr txBox="1"/>
          <p:nvPr/>
        </p:nvSpPr>
        <p:spPr>
          <a:xfrm>
            <a:off x="612000" y="3293999"/>
            <a:ext cx="5286600" cy="162000"/>
          </a:xfrm>
          <a:prstGeom prst="rect">
            <a:avLst/>
          </a:prstGeom>
          <a:noFill/>
        </p:spPr>
        <p:txBody>
          <a:bodyPr wrap="square" lIns="0" rIns="0" tIns="0" bIns="0" anchor="t">
            <a:spAutoFit/>
          </a:bodyPr>
          <a:lstStyle/>
          <a:p>
            <a:pPr algn="l">
              <a:lnSpc>
                <a:spcPct val="130000"/>
              </a:lnSpc>
            </a:pPr>
            <a:r>
              <a:rPr sz="850" b="0">
                <a:solidFill>
                  <a:srgbClr val="8A93A3"/>
                </a:solidFill>
                <a:latin typeface="맑은 고딕"/>
              </a:rPr>
              <a:t>누적 챗</a:t>
            </a:r>
          </a:p>
        </p:txBody>
      </p:sp>
      <p:sp>
        <p:nvSpPr>
          <p:cNvPr id="13" name="TextBox 12"/>
          <p:cNvSpPr txBox="1"/>
          <p:nvPr/>
        </p:nvSpPr>
        <p:spPr>
          <a:xfrm>
            <a:off x="612000" y="3509999"/>
            <a:ext cx="1134000" cy="494400"/>
          </a:xfrm>
          <a:prstGeom prst="rect">
            <a:avLst/>
          </a:prstGeom>
          <a:noFill/>
        </p:spPr>
        <p:txBody>
          <a:bodyPr wrap="square" lIns="0" rIns="0" tIns="0" bIns="0" anchor="ctr">
            <a:spAutoFit/>
          </a:bodyPr>
          <a:lstStyle/>
          <a:p>
            <a:pPr algn="r">
              <a:lnSpc>
                <a:spcPct val="130000"/>
              </a:lnSpc>
            </a:pPr>
            <a:r>
              <a:rPr sz="950" b="0">
                <a:solidFill>
                  <a:srgbClr val="5B6472"/>
                </a:solidFill>
                <a:latin typeface="맑은 고딕"/>
              </a:rPr>
              <a:t>원칙 적용 전</a:t>
            </a:r>
          </a:p>
        </p:txBody>
      </p:sp>
      <p:sp>
        <p:nvSpPr>
          <p:cNvPr id="14" name="Rectangle 13"/>
          <p:cNvSpPr/>
          <p:nvPr/>
        </p:nvSpPr>
        <p:spPr>
          <a:xfrm>
            <a:off x="1836000" y="3589103"/>
            <a:ext cx="3018600" cy="336192"/>
          </a:xfrm>
          <a:prstGeom prst="rect">
            <a:avLst/>
          </a:prstGeom>
          <a:solidFill>
            <a:srgbClr val="E8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36000" y="3589103"/>
            <a:ext cx="228766" cy="336192"/>
          </a:xfrm>
          <a:prstGeom prst="rect">
            <a:avLst/>
          </a:prstGeom>
          <a:solidFill>
            <a:srgbClr val="B6C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98600" y="3509999"/>
            <a:ext cx="900000" cy="494400"/>
          </a:xfrm>
          <a:prstGeom prst="rect">
            <a:avLst/>
          </a:prstGeom>
          <a:noFill/>
        </p:spPr>
        <p:txBody>
          <a:bodyPr wrap="square" lIns="0" rIns="0" tIns="0" bIns="0" anchor="ctr">
            <a:spAutoFit/>
          </a:bodyPr>
          <a:lstStyle/>
          <a:p>
            <a:pPr algn="r">
              <a:lnSpc>
                <a:spcPct val="130000"/>
              </a:lnSpc>
            </a:pPr>
            <a:r>
              <a:rPr sz="1150" b="1">
                <a:solidFill>
                  <a:srgbClr val="8A93A3"/>
                </a:solidFill>
                <a:latin typeface="맑은 고딕"/>
              </a:rPr>
              <a:t>4,100</a:t>
            </a:r>
          </a:p>
        </p:txBody>
      </p:sp>
      <p:sp>
        <p:nvSpPr>
          <p:cNvPr id="17" name="TextBox 16"/>
          <p:cNvSpPr txBox="1"/>
          <p:nvPr/>
        </p:nvSpPr>
        <p:spPr>
          <a:xfrm>
            <a:off x="612000" y="4126799"/>
            <a:ext cx="1134000" cy="494400"/>
          </a:xfrm>
          <a:prstGeom prst="rect">
            <a:avLst/>
          </a:prstGeom>
          <a:noFill/>
        </p:spPr>
        <p:txBody>
          <a:bodyPr wrap="square" lIns="0" rIns="0" tIns="0" bIns="0" anchor="ctr">
            <a:spAutoFit/>
          </a:bodyPr>
          <a:lstStyle/>
          <a:p>
            <a:pPr algn="r">
              <a:lnSpc>
                <a:spcPct val="130000"/>
              </a:lnSpc>
            </a:pPr>
            <a:r>
              <a:rPr sz="950" b="1">
                <a:solidFill>
                  <a:srgbClr val="1F4EA8"/>
                </a:solidFill>
                <a:latin typeface="맑은 고딕"/>
              </a:rPr>
              <a:t>적용작 A</a:t>
            </a:r>
          </a:p>
        </p:txBody>
      </p:sp>
      <p:sp>
        <p:nvSpPr>
          <p:cNvPr id="18" name="Rectangle 17"/>
          <p:cNvSpPr/>
          <p:nvPr/>
        </p:nvSpPr>
        <p:spPr>
          <a:xfrm>
            <a:off x="1836000" y="4205903"/>
            <a:ext cx="3018600" cy="336192"/>
          </a:xfrm>
          <a:prstGeom prst="rect">
            <a:avLst/>
          </a:prstGeom>
          <a:solidFill>
            <a:srgbClr val="E8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36000" y="4205903"/>
            <a:ext cx="3018600" cy="336192"/>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98600" y="4126799"/>
            <a:ext cx="900000" cy="494400"/>
          </a:xfrm>
          <a:prstGeom prst="rect">
            <a:avLst/>
          </a:prstGeom>
          <a:noFill/>
        </p:spPr>
        <p:txBody>
          <a:bodyPr wrap="square" lIns="0" rIns="0" tIns="0" bIns="0" anchor="ctr">
            <a:spAutoFit/>
          </a:bodyPr>
          <a:lstStyle/>
          <a:p>
            <a:pPr algn="r">
              <a:lnSpc>
                <a:spcPct val="130000"/>
              </a:lnSpc>
            </a:pPr>
            <a:r>
              <a:rPr sz="1150" b="1">
                <a:solidFill>
                  <a:srgbClr val="1F4EA8"/>
                </a:solidFill>
                <a:latin typeface="맑은 고딕"/>
              </a:rPr>
              <a:t>54,100</a:t>
            </a:r>
          </a:p>
        </p:txBody>
      </p:sp>
      <p:sp>
        <p:nvSpPr>
          <p:cNvPr id="21" name="TextBox 20"/>
          <p:cNvSpPr txBox="1"/>
          <p:nvPr/>
        </p:nvSpPr>
        <p:spPr>
          <a:xfrm>
            <a:off x="612000" y="4743599"/>
            <a:ext cx="1134000" cy="494400"/>
          </a:xfrm>
          <a:prstGeom prst="rect">
            <a:avLst/>
          </a:prstGeom>
          <a:noFill/>
        </p:spPr>
        <p:txBody>
          <a:bodyPr wrap="square" lIns="0" rIns="0" tIns="0" bIns="0" anchor="ctr">
            <a:spAutoFit/>
          </a:bodyPr>
          <a:lstStyle/>
          <a:p>
            <a:pPr algn="r">
              <a:lnSpc>
                <a:spcPct val="130000"/>
              </a:lnSpc>
            </a:pPr>
            <a:r>
              <a:rPr sz="950" b="1">
                <a:solidFill>
                  <a:srgbClr val="1F4EA8"/>
                </a:solidFill>
                <a:latin typeface="맑은 고딕"/>
              </a:rPr>
              <a:t>적용작 B</a:t>
            </a:r>
          </a:p>
        </p:txBody>
      </p:sp>
      <p:sp>
        <p:nvSpPr>
          <p:cNvPr id="22" name="Rectangle 21"/>
          <p:cNvSpPr/>
          <p:nvPr/>
        </p:nvSpPr>
        <p:spPr>
          <a:xfrm>
            <a:off x="1836000" y="4822703"/>
            <a:ext cx="3018600" cy="336192"/>
          </a:xfrm>
          <a:prstGeom prst="rect">
            <a:avLst/>
          </a:prstGeom>
          <a:solidFill>
            <a:srgbClr val="E8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36000" y="4822703"/>
            <a:ext cx="2867949" cy="336192"/>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98600" y="4743599"/>
            <a:ext cx="900000" cy="494400"/>
          </a:xfrm>
          <a:prstGeom prst="rect">
            <a:avLst/>
          </a:prstGeom>
          <a:noFill/>
        </p:spPr>
        <p:txBody>
          <a:bodyPr wrap="square" lIns="0" rIns="0" tIns="0" bIns="0" anchor="ctr">
            <a:spAutoFit/>
          </a:bodyPr>
          <a:lstStyle/>
          <a:p>
            <a:pPr algn="r">
              <a:lnSpc>
                <a:spcPct val="130000"/>
              </a:lnSpc>
            </a:pPr>
            <a:r>
              <a:rPr sz="1150" b="1">
                <a:solidFill>
                  <a:srgbClr val="1F4EA8"/>
                </a:solidFill>
                <a:latin typeface="맑은 고딕"/>
              </a:rPr>
              <a:t>51,400</a:t>
            </a:r>
          </a:p>
        </p:txBody>
      </p:sp>
      <p:sp>
        <p:nvSpPr>
          <p:cNvPr id="25" name="Rounded Rectangle 24"/>
          <p:cNvSpPr/>
          <p:nvPr/>
        </p:nvSpPr>
        <p:spPr>
          <a:xfrm>
            <a:off x="612000" y="5418000"/>
            <a:ext cx="5286600" cy="4860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12000" y="5418000"/>
            <a:ext cx="46800" cy="486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4000" y="5418000"/>
            <a:ext cx="4962600" cy="486000"/>
          </a:xfrm>
          <a:prstGeom prst="rect">
            <a:avLst/>
          </a:prstGeom>
          <a:noFill/>
        </p:spPr>
        <p:txBody>
          <a:bodyPr wrap="square" lIns="0" rIns="0" tIns="0" bIns="0" anchor="ctr">
            <a:spAutoFit/>
          </a:bodyPr>
          <a:lstStyle/>
          <a:p>
            <a:pPr algn="l">
              <a:lnSpc>
                <a:spcPct val="130000"/>
              </a:lnSpc>
            </a:pPr>
            <a:r>
              <a:rPr sz="1200" b="1">
                <a:solidFill>
                  <a:srgbClr val="1F4EA8"/>
                </a:solidFill>
                <a:latin typeface="맑은 고딕"/>
              </a:rPr>
              <a:t>적용한 두 작품이 나란히 최고 기록</a:t>
            </a:r>
          </a:p>
        </p:txBody>
      </p:sp>
      <p:sp>
        <p:nvSpPr>
          <p:cNvPr id="28" name="TextBox 27"/>
          <p:cNvSpPr txBox="1"/>
          <p:nvPr/>
        </p:nvSpPr>
        <p:spPr>
          <a:xfrm>
            <a:off x="6294600" y="1278000"/>
            <a:ext cx="5286600" cy="180000"/>
          </a:xfrm>
          <a:prstGeom prst="rect">
            <a:avLst/>
          </a:prstGeom>
          <a:noFill/>
        </p:spPr>
        <p:txBody>
          <a:bodyPr wrap="square" lIns="0" rIns="0" tIns="0" bIns="0" anchor="t">
            <a:spAutoFit/>
          </a:bodyPr>
          <a:lstStyle/>
          <a:p>
            <a:pPr algn="l">
              <a:lnSpc>
                <a:spcPct val="130000"/>
              </a:lnSpc>
            </a:pPr>
            <a:r>
              <a:rPr sz="1000" b="1">
                <a:solidFill>
                  <a:srgbClr val="8A93A3"/>
                </a:solidFill>
                <a:latin typeface="맑은 고딕"/>
              </a:rPr>
              <a:t>CASE 2</a:t>
            </a:r>
          </a:p>
        </p:txBody>
      </p:sp>
      <p:sp>
        <p:nvSpPr>
          <p:cNvPr id="29" name="TextBox 28"/>
          <p:cNvSpPr txBox="1"/>
          <p:nvPr/>
        </p:nvSpPr>
        <p:spPr>
          <a:xfrm>
            <a:off x="6294600" y="1465200"/>
            <a:ext cx="5286600" cy="306000"/>
          </a:xfrm>
          <a:prstGeom prst="rect">
            <a:avLst/>
          </a:prstGeom>
          <a:noFill/>
        </p:spPr>
        <p:txBody>
          <a:bodyPr wrap="square" lIns="0" rIns="0" tIns="0" bIns="0" anchor="t">
            <a:spAutoFit/>
          </a:bodyPr>
          <a:lstStyle/>
          <a:p>
            <a:pPr algn="l">
              <a:lnSpc>
                <a:spcPct val="130000"/>
              </a:lnSpc>
            </a:pPr>
            <a:r>
              <a:rPr sz="1600" b="1">
                <a:solidFill>
                  <a:srgbClr val="1B1E23"/>
                </a:solidFill>
                <a:latin typeface="맑은 고딕"/>
              </a:rPr>
              <a:t>제작에 드는 시간이 너무 길었습니다</a:t>
            </a:r>
          </a:p>
        </p:txBody>
      </p:sp>
      <p:sp>
        <p:nvSpPr>
          <p:cNvPr id="30" name="Rounded Rectangle 29"/>
          <p:cNvSpPr/>
          <p:nvPr/>
        </p:nvSpPr>
        <p:spPr>
          <a:xfrm>
            <a:off x="6294600" y="1872000"/>
            <a:ext cx="5286600" cy="540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56600" y="1872000"/>
            <a:ext cx="4962600" cy="540000"/>
          </a:xfrm>
          <a:prstGeom prst="rect">
            <a:avLst/>
          </a:prstGeom>
          <a:noFill/>
        </p:spPr>
        <p:txBody>
          <a:bodyPr wrap="square" lIns="0" rIns="0" tIns="0" bIns="0" anchor="ctr">
            <a:spAutoFit/>
          </a:bodyPr>
          <a:lstStyle/>
          <a:p>
            <a:pPr algn="l">
              <a:lnSpc>
                <a:spcPct val="130000"/>
              </a:lnSpc>
            </a:pPr>
            <a:r>
              <a:rPr sz="950" b="0">
                <a:solidFill>
                  <a:srgbClr val="5B6472"/>
                </a:solidFill>
                <a:latin typeface="맑은 고딕"/>
              </a:rPr>
              <a:t>한 편을 완성하는 시간이 계속 늘었고, 대부분이 같은 판단의 반복이었습니다.</a:t>
            </a:r>
          </a:p>
        </p:txBody>
      </p:sp>
      <p:sp>
        <p:nvSpPr>
          <p:cNvPr id="32" name="TextBox 31"/>
          <p:cNvSpPr txBox="1"/>
          <p:nvPr/>
        </p:nvSpPr>
        <p:spPr>
          <a:xfrm>
            <a:off x="6294600" y="2538000"/>
            <a:ext cx="5286600" cy="612000"/>
          </a:xfrm>
          <a:prstGeom prst="rect">
            <a:avLst/>
          </a:prstGeom>
          <a:noFill/>
        </p:spPr>
        <p:txBody>
          <a:bodyPr wrap="square" lIns="0" rIns="0" tIns="0" bIns="0" anchor="t">
            <a:spAutoFit/>
          </a:bodyPr>
          <a:lstStyle/>
          <a:p>
            <a:pPr algn="l">
              <a:lnSpc>
                <a:spcPct val="130000"/>
              </a:lnSpc>
            </a:pPr>
            <a:r>
              <a:rPr sz="1000" b="0">
                <a:solidFill>
                  <a:srgbClr val="1B1E23"/>
                </a:solidFill>
                <a:latin typeface="맑은 고딕"/>
              </a:rPr>
              <a:t>판단 구간과 반복 구간을 분리 → 두 트랙을 규격화하고 반복 구간은 직접 만든 도구로 처리</a:t>
            </a:r>
          </a:p>
        </p:txBody>
      </p:sp>
      <p:sp>
        <p:nvSpPr>
          <p:cNvPr id="33" name="TextBox 32"/>
          <p:cNvSpPr txBox="1"/>
          <p:nvPr/>
        </p:nvSpPr>
        <p:spPr>
          <a:xfrm>
            <a:off x="6294600" y="3293999"/>
            <a:ext cx="5286600" cy="162000"/>
          </a:xfrm>
          <a:prstGeom prst="rect">
            <a:avLst/>
          </a:prstGeom>
          <a:noFill/>
        </p:spPr>
        <p:txBody>
          <a:bodyPr wrap="square" lIns="0" rIns="0" tIns="0" bIns="0" anchor="t">
            <a:spAutoFit/>
          </a:bodyPr>
          <a:lstStyle/>
          <a:p>
            <a:pPr algn="l">
              <a:lnSpc>
                <a:spcPct val="130000"/>
              </a:lnSpc>
            </a:pPr>
            <a:r>
              <a:rPr sz="850" b="0">
                <a:solidFill>
                  <a:srgbClr val="8A93A3"/>
                </a:solidFill>
                <a:latin typeface="맑은 고딕"/>
              </a:rPr>
              <a:t>11일 기준 제작량</a:t>
            </a:r>
          </a:p>
        </p:txBody>
      </p:sp>
      <p:sp>
        <p:nvSpPr>
          <p:cNvPr id="34" name="TextBox 33"/>
          <p:cNvSpPr txBox="1"/>
          <p:nvPr/>
        </p:nvSpPr>
        <p:spPr>
          <a:xfrm>
            <a:off x="6294600" y="3509999"/>
            <a:ext cx="1134000" cy="802800"/>
          </a:xfrm>
          <a:prstGeom prst="rect">
            <a:avLst/>
          </a:prstGeom>
          <a:noFill/>
        </p:spPr>
        <p:txBody>
          <a:bodyPr wrap="square" lIns="0" rIns="0" tIns="0" bIns="0" anchor="ctr">
            <a:spAutoFit/>
          </a:bodyPr>
          <a:lstStyle/>
          <a:p>
            <a:pPr algn="r">
              <a:lnSpc>
                <a:spcPct val="130000"/>
              </a:lnSpc>
            </a:pPr>
            <a:r>
              <a:rPr sz="950" b="0">
                <a:solidFill>
                  <a:srgbClr val="5B6472"/>
                </a:solidFill>
                <a:latin typeface="맑은 고딕"/>
              </a:rPr>
              <a:t>파이프라인 전</a:t>
            </a:r>
          </a:p>
        </p:txBody>
      </p:sp>
      <p:sp>
        <p:nvSpPr>
          <p:cNvPr id="35" name="Rectangle 34"/>
          <p:cNvSpPr/>
          <p:nvPr/>
        </p:nvSpPr>
        <p:spPr>
          <a:xfrm>
            <a:off x="7518600" y="3638447"/>
            <a:ext cx="3018600" cy="545904"/>
          </a:xfrm>
          <a:prstGeom prst="rect">
            <a:avLst/>
          </a:prstGeom>
          <a:solidFill>
            <a:srgbClr val="E8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18600" y="3638447"/>
            <a:ext cx="495304" cy="545904"/>
          </a:xfrm>
          <a:prstGeom prst="rect">
            <a:avLst/>
          </a:prstGeom>
          <a:solidFill>
            <a:srgbClr val="B6C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81200" y="3509999"/>
            <a:ext cx="900000" cy="802800"/>
          </a:xfrm>
          <a:prstGeom prst="rect">
            <a:avLst/>
          </a:prstGeom>
          <a:noFill/>
        </p:spPr>
        <p:txBody>
          <a:bodyPr wrap="square" lIns="0" rIns="0" tIns="0" bIns="0" anchor="ctr">
            <a:spAutoFit/>
          </a:bodyPr>
          <a:lstStyle/>
          <a:p>
            <a:pPr algn="r">
              <a:lnSpc>
                <a:spcPct val="130000"/>
              </a:lnSpc>
            </a:pPr>
            <a:r>
              <a:rPr sz="1150" b="1">
                <a:solidFill>
                  <a:srgbClr val="8A93A3"/>
                </a:solidFill>
                <a:latin typeface="맑은 고딕"/>
              </a:rPr>
              <a:t>360</a:t>
            </a:r>
          </a:p>
        </p:txBody>
      </p:sp>
      <p:sp>
        <p:nvSpPr>
          <p:cNvPr id="38" name="TextBox 37"/>
          <p:cNvSpPr txBox="1"/>
          <p:nvPr/>
        </p:nvSpPr>
        <p:spPr>
          <a:xfrm>
            <a:off x="6294600" y="4435199"/>
            <a:ext cx="1134000" cy="802800"/>
          </a:xfrm>
          <a:prstGeom prst="rect">
            <a:avLst/>
          </a:prstGeom>
          <a:noFill/>
        </p:spPr>
        <p:txBody>
          <a:bodyPr wrap="square" lIns="0" rIns="0" tIns="0" bIns="0" anchor="ctr">
            <a:spAutoFit/>
          </a:bodyPr>
          <a:lstStyle/>
          <a:p>
            <a:pPr algn="r">
              <a:lnSpc>
                <a:spcPct val="130000"/>
              </a:lnSpc>
            </a:pPr>
            <a:r>
              <a:rPr sz="950" b="1">
                <a:solidFill>
                  <a:srgbClr val="1F4EA8"/>
                </a:solidFill>
                <a:latin typeface="맑은 고딕"/>
              </a:rPr>
              <a:t>구축 후</a:t>
            </a:r>
          </a:p>
        </p:txBody>
      </p:sp>
      <p:sp>
        <p:nvSpPr>
          <p:cNvPr id="39" name="Rectangle 38"/>
          <p:cNvSpPr/>
          <p:nvPr/>
        </p:nvSpPr>
        <p:spPr>
          <a:xfrm>
            <a:off x="7518600" y="4563647"/>
            <a:ext cx="3018600" cy="545904"/>
          </a:xfrm>
          <a:prstGeom prst="rect">
            <a:avLst/>
          </a:prstGeom>
          <a:solidFill>
            <a:srgbClr val="E8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518600" y="4563647"/>
            <a:ext cx="3018600" cy="545904"/>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81200" y="4435199"/>
            <a:ext cx="900000" cy="802800"/>
          </a:xfrm>
          <a:prstGeom prst="rect">
            <a:avLst/>
          </a:prstGeom>
          <a:noFill/>
        </p:spPr>
        <p:txBody>
          <a:bodyPr wrap="square" lIns="0" rIns="0" tIns="0" bIns="0" anchor="ctr">
            <a:spAutoFit/>
          </a:bodyPr>
          <a:lstStyle/>
          <a:p>
            <a:pPr algn="r">
              <a:lnSpc>
                <a:spcPct val="130000"/>
              </a:lnSpc>
            </a:pPr>
            <a:r>
              <a:rPr sz="1150" b="1">
                <a:solidFill>
                  <a:srgbClr val="1F4EA8"/>
                </a:solidFill>
                <a:latin typeface="맑은 고딕"/>
              </a:rPr>
              <a:t>2,194</a:t>
            </a:r>
          </a:p>
        </p:txBody>
      </p:sp>
      <p:sp>
        <p:nvSpPr>
          <p:cNvPr id="42" name="Rounded Rectangle 41"/>
          <p:cNvSpPr/>
          <p:nvPr/>
        </p:nvSpPr>
        <p:spPr>
          <a:xfrm>
            <a:off x="6294600" y="5418000"/>
            <a:ext cx="5286600" cy="486000"/>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294600" y="5418000"/>
            <a:ext cx="46800" cy="486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56600" y="5418000"/>
            <a:ext cx="4962600" cy="486000"/>
          </a:xfrm>
          <a:prstGeom prst="rect">
            <a:avLst/>
          </a:prstGeom>
          <a:noFill/>
        </p:spPr>
        <p:txBody>
          <a:bodyPr wrap="square" lIns="0" rIns="0" tIns="0" bIns="0" anchor="ctr">
            <a:spAutoFit/>
          </a:bodyPr>
          <a:lstStyle/>
          <a:p>
            <a:pPr algn="l">
              <a:lnSpc>
                <a:spcPct val="130000"/>
              </a:lnSpc>
            </a:pPr>
            <a:r>
              <a:rPr sz="1200" b="1">
                <a:solidFill>
                  <a:srgbClr val="1F4EA8"/>
                </a:solidFill>
                <a:latin typeface="맑은 고딕"/>
              </a:rPr>
              <a:t>같은 기간에 약 6배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06</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작업 파이프라인</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871200"/>
            <a:ext cx="10969200" cy="324000"/>
          </a:xfrm>
          <a:prstGeom prst="rect">
            <a:avLst/>
          </a:prstGeom>
          <a:noFill/>
        </p:spPr>
        <p:txBody>
          <a:bodyPr wrap="square" lIns="0" rIns="0" tIns="0" bIns="0" anchor="t">
            <a:spAutoFit/>
          </a:bodyPr>
          <a:lstStyle/>
          <a:p>
            <a:pPr algn="l">
              <a:lnSpc>
                <a:spcPct val="130000"/>
              </a:lnSpc>
            </a:pPr>
            <a:r>
              <a:rPr sz="1400" b="1">
                <a:solidFill>
                  <a:srgbClr val="1B1E23"/>
                </a:solidFill>
                <a:latin typeface="맑은 고딕"/>
              </a:rPr>
              <a:t>대사와 이미지 에셋을 각각 규격화하고, 마지막에 합칩니다.</a:t>
            </a:r>
          </a:p>
        </p:txBody>
      </p:sp>
      <p:sp>
        <p:nvSpPr>
          <p:cNvPr id="7" name="TextBox 6"/>
          <p:cNvSpPr txBox="1"/>
          <p:nvPr/>
        </p:nvSpPr>
        <p:spPr>
          <a:xfrm>
            <a:off x="612000" y="1278000"/>
            <a:ext cx="10969200" cy="234000"/>
          </a:xfrm>
          <a:prstGeom prst="rect">
            <a:avLst/>
          </a:prstGeom>
          <a:noFill/>
        </p:spPr>
        <p:txBody>
          <a:bodyPr wrap="square" lIns="0" rIns="0" tIns="0" bIns="0" anchor="t">
            <a:spAutoFit/>
          </a:bodyPr>
          <a:lstStyle/>
          <a:p>
            <a:pPr algn="l">
              <a:lnSpc>
                <a:spcPct val="130000"/>
              </a:lnSpc>
            </a:pPr>
            <a:r>
              <a:rPr sz="1400" b="1">
                <a:solidFill>
                  <a:srgbClr val="1F4EA8"/>
                </a:solidFill>
                <a:latin typeface="맑은 고딕"/>
              </a:rPr>
              <a:t>① 프롬프트 트랙</a:t>
            </a:r>
          </a:p>
        </p:txBody>
      </p:sp>
      <p:sp>
        <p:nvSpPr>
          <p:cNvPr id="8" name="Rounded Rectangle 7"/>
          <p:cNvSpPr/>
          <p:nvPr/>
        </p:nvSpPr>
        <p:spPr>
          <a:xfrm>
            <a:off x="612000" y="1584000"/>
            <a:ext cx="262080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12000" y="1584000"/>
            <a:ext cx="262080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2000" y="1641600"/>
            <a:ext cx="262080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1</a:t>
            </a:r>
          </a:p>
        </p:txBody>
      </p:sp>
      <p:sp>
        <p:nvSpPr>
          <p:cNvPr id="11" name="TextBox 10"/>
          <p:cNvSpPr txBox="1"/>
          <p:nvPr/>
        </p:nvSpPr>
        <p:spPr>
          <a:xfrm>
            <a:off x="648000" y="1807200"/>
            <a:ext cx="254880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설정 정의</a:t>
            </a:r>
          </a:p>
        </p:txBody>
      </p:sp>
      <p:sp>
        <p:nvSpPr>
          <p:cNvPr id="12" name="TextBox 11"/>
          <p:cNvSpPr txBox="1"/>
          <p:nvPr/>
        </p:nvSpPr>
        <p:spPr>
          <a:xfrm>
            <a:off x="612000" y="2102400"/>
            <a:ext cx="262080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자체 도구</a:t>
            </a:r>
          </a:p>
        </p:txBody>
      </p:sp>
      <p:sp>
        <p:nvSpPr>
          <p:cNvPr id="13" name="TextBox 12"/>
          <p:cNvSpPr txBox="1"/>
          <p:nvPr/>
        </p:nvSpPr>
        <p:spPr>
          <a:xfrm>
            <a:off x="712800" y="2304000"/>
            <a:ext cx="241920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인물 메모를 항목 구조로 정리하는 보조 도구로 초안을 만들고, 비어 있는 항목을 채웁니다.</a:t>
            </a:r>
          </a:p>
        </p:txBody>
      </p:sp>
      <p:sp>
        <p:nvSpPr>
          <p:cNvPr id="14" name="Rounded Rectangle 13"/>
          <p:cNvSpPr/>
          <p:nvPr/>
        </p:nvSpPr>
        <p:spPr>
          <a:xfrm>
            <a:off x="3394800" y="1584000"/>
            <a:ext cx="262080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3394800" y="1584000"/>
            <a:ext cx="262080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394800" y="1641600"/>
            <a:ext cx="262080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2</a:t>
            </a:r>
          </a:p>
        </p:txBody>
      </p:sp>
      <p:sp>
        <p:nvSpPr>
          <p:cNvPr id="17" name="TextBox 16"/>
          <p:cNvSpPr txBox="1"/>
          <p:nvPr/>
        </p:nvSpPr>
        <p:spPr>
          <a:xfrm>
            <a:off x="3430800" y="1807200"/>
            <a:ext cx="254880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규칙 작성</a:t>
            </a:r>
          </a:p>
        </p:txBody>
      </p:sp>
      <p:sp>
        <p:nvSpPr>
          <p:cNvPr id="18" name="TextBox 17"/>
          <p:cNvSpPr txBox="1"/>
          <p:nvPr/>
        </p:nvSpPr>
        <p:spPr>
          <a:xfrm>
            <a:off x="3394800" y="2102400"/>
            <a:ext cx="262080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자체 도구</a:t>
            </a:r>
          </a:p>
        </p:txBody>
      </p:sp>
      <p:sp>
        <p:nvSpPr>
          <p:cNvPr id="19" name="TextBox 18"/>
          <p:cNvSpPr txBox="1"/>
          <p:nvPr/>
        </p:nvSpPr>
        <p:spPr>
          <a:xfrm>
            <a:off x="3495600" y="2304000"/>
            <a:ext cx="241920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말투와 호칭, 금지 표현, 발화 분량, 출력 형식을 규칙 블록으로 고정합니다.</a:t>
            </a:r>
          </a:p>
        </p:txBody>
      </p:sp>
      <p:sp>
        <p:nvSpPr>
          <p:cNvPr id="20" name="Rounded Rectangle 19"/>
          <p:cNvSpPr/>
          <p:nvPr/>
        </p:nvSpPr>
        <p:spPr>
          <a:xfrm>
            <a:off x="6177600" y="1584000"/>
            <a:ext cx="262080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177600" y="1584000"/>
            <a:ext cx="262080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77600" y="1641600"/>
            <a:ext cx="262080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3</a:t>
            </a:r>
          </a:p>
        </p:txBody>
      </p:sp>
      <p:sp>
        <p:nvSpPr>
          <p:cNvPr id="23" name="TextBox 22"/>
          <p:cNvSpPr txBox="1"/>
          <p:nvPr/>
        </p:nvSpPr>
        <p:spPr>
          <a:xfrm>
            <a:off x="6213600" y="1807200"/>
            <a:ext cx="254880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대화 검증</a:t>
            </a:r>
          </a:p>
        </p:txBody>
      </p:sp>
      <p:sp>
        <p:nvSpPr>
          <p:cNvPr id="24" name="TextBox 23"/>
          <p:cNvSpPr txBox="1"/>
          <p:nvPr/>
        </p:nvSpPr>
        <p:spPr>
          <a:xfrm>
            <a:off x="6177600" y="2102400"/>
            <a:ext cx="262080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직접</a:t>
            </a:r>
          </a:p>
        </p:txBody>
      </p:sp>
      <p:sp>
        <p:nvSpPr>
          <p:cNvPr id="25" name="TextBox 24"/>
          <p:cNvSpPr txBox="1"/>
          <p:nvPr/>
        </p:nvSpPr>
        <p:spPr>
          <a:xfrm>
            <a:off x="6278400" y="2304000"/>
            <a:ext cx="241920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직접 돌려보며 설정을 벗어나는 지점을 찾아 규칙을 보강합니다.</a:t>
            </a:r>
          </a:p>
        </p:txBody>
      </p:sp>
      <p:sp>
        <p:nvSpPr>
          <p:cNvPr id="26" name="Rounded Rectangle 25"/>
          <p:cNvSpPr/>
          <p:nvPr/>
        </p:nvSpPr>
        <p:spPr>
          <a:xfrm>
            <a:off x="8960400" y="1584000"/>
            <a:ext cx="262080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8960400" y="1584000"/>
            <a:ext cx="262080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60400" y="1641600"/>
            <a:ext cx="262080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4</a:t>
            </a:r>
          </a:p>
        </p:txBody>
      </p:sp>
      <p:sp>
        <p:nvSpPr>
          <p:cNvPr id="29" name="TextBox 28"/>
          <p:cNvSpPr txBox="1"/>
          <p:nvPr/>
        </p:nvSpPr>
        <p:spPr>
          <a:xfrm>
            <a:off x="8996400" y="1807200"/>
            <a:ext cx="254880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상태창 연결</a:t>
            </a:r>
          </a:p>
        </p:txBody>
      </p:sp>
      <p:sp>
        <p:nvSpPr>
          <p:cNvPr id="30" name="TextBox 29"/>
          <p:cNvSpPr txBox="1"/>
          <p:nvPr/>
        </p:nvSpPr>
        <p:spPr>
          <a:xfrm>
            <a:off x="8960400" y="2102400"/>
            <a:ext cx="262080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직접</a:t>
            </a:r>
          </a:p>
        </p:txBody>
      </p:sp>
      <p:sp>
        <p:nvSpPr>
          <p:cNvPr id="31" name="TextBox 30"/>
          <p:cNvSpPr txBox="1"/>
          <p:nvPr/>
        </p:nvSpPr>
        <p:spPr>
          <a:xfrm>
            <a:off x="9061200" y="2304000"/>
            <a:ext cx="241920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호감도와 진행 상황을 변수로 정의해 상태창 표시 조건과 연결합니다.</a:t>
            </a:r>
          </a:p>
        </p:txBody>
      </p:sp>
      <p:sp>
        <p:nvSpPr>
          <p:cNvPr id="32" name="TextBox 31"/>
          <p:cNvSpPr txBox="1"/>
          <p:nvPr/>
        </p:nvSpPr>
        <p:spPr>
          <a:xfrm>
            <a:off x="612000" y="3348000"/>
            <a:ext cx="10969200" cy="234000"/>
          </a:xfrm>
          <a:prstGeom prst="rect">
            <a:avLst/>
          </a:prstGeom>
          <a:noFill/>
        </p:spPr>
        <p:txBody>
          <a:bodyPr wrap="square" lIns="0" rIns="0" tIns="0" bIns="0" anchor="t">
            <a:spAutoFit/>
          </a:bodyPr>
          <a:lstStyle/>
          <a:p>
            <a:pPr algn="l">
              <a:lnSpc>
                <a:spcPct val="130000"/>
              </a:lnSpc>
            </a:pPr>
            <a:r>
              <a:rPr sz="1400" b="1">
                <a:solidFill>
                  <a:srgbClr val="1F4EA8"/>
                </a:solidFill>
                <a:latin typeface="맑은 고딕"/>
              </a:rPr>
              <a:t>② 이미지 에셋 트랙</a:t>
            </a:r>
          </a:p>
        </p:txBody>
      </p:sp>
      <p:sp>
        <p:nvSpPr>
          <p:cNvPr id="33" name="Rounded Rectangle 32"/>
          <p:cNvSpPr/>
          <p:nvPr/>
        </p:nvSpPr>
        <p:spPr>
          <a:xfrm>
            <a:off x="612000" y="3654000"/>
            <a:ext cx="206424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612000" y="3654000"/>
            <a:ext cx="206424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2000" y="3711600"/>
            <a:ext cx="206424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1</a:t>
            </a:r>
          </a:p>
        </p:txBody>
      </p:sp>
      <p:sp>
        <p:nvSpPr>
          <p:cNvPr id="36" name="TextBox 35"/>
          <p:cNvSpPr txBox="1"/>
          <p:nvPr/>
        </p:nvSpPr>
        <p:spPr>
          <a:xfrm>
            <a:off x="648000" y="3877200"/>
            <a:ext cx="199224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기준값 고정</a:t>
            </a:r>
          </a:p>
        </p:txBody>
      </p:sp>
      <p:sp>
        <p:nvSpPr>
          <p:cNvPr id="37" name="TextBox 36"/>
          <p:cNvSpPr txBox="1"/>
          <p:nvPr/>
        </p:nvSpPr>
        <p:spPr>
          <a:xfrm>
            <a:off x="612000" y="4172400"/>
            <a:ext cx="206424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자체 도구</a:t>
            </a:r>
          </a:p>
        </p:txBody>
      </p:sp>
      <p:sp>
        <p:nvSpPr>
          <p:cNvPr id="38" name="TextBox 37"/>
          <p:cNvSpPr txBox="1"/>
          <p:nvPr/>
        </p:nvSpPr>
        <p:spPr>
          <a:xfrm>
            <a:off x="712800" y="4374000"/>
            <a:ext cx="186264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인물의 외형 기준값을 고정해 작품 내내 같은 인물로 보이게 합니다.</a:t>
            </a:r>
          </a:p>
        </p:txBody>
      </p:sp>
      <p:sp>
        <p:nvSpPr>
          <p:cNvPr id="39" name="Rounded Rectangle 38"/>
          <p:cNvSpPr/>
          <p:nvPr/>
        </p:nvSpPr>
        <p:spPr>
          <a:xfrm>
            <a:off x="2838240" y="3654000"/>
            <a:ext cx="206424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2838240" y="3654000"/>
            <a:ext cx="206424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2838240" y="3711600"/>
            <a:ext cx="206424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2</a:t>
            </a:r>
          </a:p>
        </p:txBody>
      </p:sp>
      <p:sp>
        <p:nvSpPr>
          <p:cNvPr id="42" name="TextBox 41"/>
          <p:cNvSpPr txBox="1"/>
          <p:nvPr/>
        </p:nvSpPr>
        <p:spPr>
          <a:xfrm>
            <a:off x="2874240" y="3877200"/>
            <a:ext cx="199224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배치 생성</a:t>
            </a:r>
          </a:p>
        </p:txBody>
      </p:sp>
      <p:sp>
        <p:nvSpPr>
          <p:cNvPr id="43" name="TextBox 42"/>
          <p:cNvSpPr txBox="1"/>
          <p:nvPr/>
        </p:nvSpPr>
        <p:spPr>
          <a:xfrm>
            <a:off x="2838240" y="4172400"/>
            <a:ext cx="206424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자체 도구</a:t>
            </a:r>
          </a:p>
        </p:txBody>
      </p:sp>
      <p:sp>
        <p:nvSpPr>
          <p:cNvPr id="44" name="TextBox 43"/>
          <p:cNvSpPr txBox="1"/>
          <p:nvPr/>
        </p:nvSpPr>
        <p:spPr>
          <a:xfrm>
            <a:off x="2939040" y="4374000"/>
            <a:ext cx="186264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표정과 복장, 구도를 바꿔 가며 필요한 컷을 한꺼번에 생성합니다.</a:t>
            </a:r>
          </a:p>
        </p:txBody>
      </p:sp>
      <p:sp>
        <p:nvSpPr>
          <p:cNvPr id="45" name="Rounded Rectangle 44"/>
          <p:cNvSpPr/>
          <p:nvPr/>
        </p:nvSpPr>
        <p:spPr>
          <a:xfrm>
            <a:off x="5064480" y="3654000"/>
            <a:ext cx="206424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5064480" y="3654000"/>
            <a:ext cx="206424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5064480" y="3711600"/>
            <a:ext cx="206424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3</a:t>
            </a:r>
          </a:p>
        </p:txBody>
      </p:sp>
      <p:sp>
        <p:nvSpPr>
          <p:cNvPr id="48" name="TextBox 47"/>
          <p:cNvSpPr txBox="1"/>
          <p:nvPr/>
        </p:nvSpPr>
        <p:spPr>
          <a:xfrm>
            <a:off x="5100480" y="3877200"/>
            <a:ext cx="199224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보정 · 아웃페인팅</a:t>
            </a:r>
          </a:p>
        </p:txBody>
      </p:sp>
      <p:sp>
        <p:nvSpPr>
          <p:cNvPr id="49" name="TextBox 48"/>
          <p:cNvSpPr txBox="1"/>
          <p:nvPr/>
        </p:nvSpPr>
        <p:spPr>
          <a:xfrm>
            <a:off x="5064480" y="4172400"/>
            <a:ext cx="206424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직접 + 도구</a:t>
            </a:r>
          </a:p>
        </p:txBody>
      </p:sp>
      <p:sp>
        <p:nvSpPr>
          <p:cNvPr id="50" name="TextBox 49"/>
          <p:cNvSpPr txBox="1"/>
          <p:nvPr/>
        </p:nvSpPr>
        <p:spPr>
          <a:xfrm>
            <a:off x="5165280" y="4374000"/>
            <a:ext cx="186264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결함 부분만 다시 생성하고, 화면비가 맞지 않는 컷은 배경을 이어 붙입니다.</a:t>
            </a:r>
          </a:p>
        </p:txBody>
      </p:sp>
      <p:sp>
        <p:nvSpPr>
          <p:cNvPr id="51" name="Rounded Rectangle 50"/>
          <p:cNvSpPr/>
          <p:nvPr/>
        </p:nvSpPr>
        <p:spPr>
          <a:xfrm>
            <a:off x="7290720" y="3654000"/>
            <a:ext cx="206424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7290720" y="3654000"/>
            <a:ext cx="206424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290720" y="3711600"/>
            <a:ext cx="206424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4</a:t>
            </a:r>
          </a:p>
        </p:txBody>
      </p:sp>
      <p:sp>
        <p:nvSpPr>
          <p:cNvPr id="54" name="TextBox 53"/>
          <p:cNvSpPr txBox="1"/>
          <p:nvPr/>
        </p:nvSpPr>
        <p:spPr>
          <a:xfrm>
            <a:off x="7326720" y="3877200"/>
            <a:ext cx="199224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채점 · 선별</a:t>
            </a:r>
          </a:p>
        </p:txBody>
      </p:sp>
      <p:sp>
        <p:nvSpPr>
          <p:cNvPr id="55" name="TextBox 54"/>
          <p:cNvSpPr txBox="1"/>
          <p:nvPr/>
        </p:nvSpPr>
        <p:spPr>
          <a:xfrm>
            <a:off x="7290720" y="4172400"/>
            <a:ext cx="206424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자체 도구</a:t>
            </a:r>
          </a:p>
        </p:txBody>
      </p:sp>
      <p:sp>
        <p:nvSpPr>
          <p:cNvPr id="56" name="TextBox 55"/>
          <p:cNvSpPr txBox="1"/>
          <p:nvPr/>
        </p:nvSpPr>
        <p:spPr>
          <a:xfrm>
            <a:off x="7391520" y="4374000"/>
            <a:ext cx="186264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자동 채점으로 미달분을 반려·재생성한 뒤 남은 컷을 순위화합니다.</a:t>
            </a:r>
          </a:p>
        </p:txBody>
      </p:sp>
      <p:sp>
        <p:nvSpPr>
          <p:cNvPr id="57" name="Rounded Rectangle 56"/>
          <p:cNvSpPr/>
          <p:nvPr/>
        </p:nvSpPr>
        <p:spPr>
          <a:xfrm>
            <a:off x="9516960" y="3654000"/>
            <a:ext cx="2064240" cy="1584000"/>
          </a:xfrm>
          <a:prstGeom prst="roundRect">
            <a:avLst>
              <a:gd name="adj" fmla="val 5000"/>
            </a:avLst>
          </a:prstGeom>
          <a:solidFill>
            <a:srgbClr val="FAFBFD"/>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ounded Rectangle 57"/>
          <p:cNvSpPr/>
          <p:nvPr/>
        </p:nvSpPr>
        <p:spPr>
          <a:xfrm>
            <a:off x="9516960" y="3654000"/>
            <a:ext cx="2064240" cy="460800"/>
          </a:xfrm>
          <a:prstGeom prst="roundRect">
            <a:avLst>
              <a:gd name="adj" fmla="val 16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9516960" y="3711600"/>
            <a:ext cx="2064240" cy="162000"/>
          </a:xfrm>
          <a:prstGeom prst="rect">
            <a:avLst/>
          </a:prstGeom>
          <a:noFill/>
        </p:spPr>
        <p:txBody>
          <a:bodyPr wrap="square" lIns="0" rIns="0" tIns="0" bIns="0" anchor="t">
            <a:spAutoFit/>
          </a:bodyPr>
          <a:lstStyle/>
          <a:p>
            <a:pPr algn="ctr">
              <a:lnSpc>
                <a:spcPct val="130000"/>
              </a:lnSpc>
            </a:pPr>
            <a:r>
              <a:rPr sz="950" b="1">
                <a:solidFill>
                  <a:srgbClr val="BFD2F2"/>
                </a:solidFill>
                <a:latin typeface="맑은 고딕"/>
              </a:rPr>
              <a:t>5</a:t>
            </a:r>
          </a:p>
        </p:txBody>
      </p:sp>
      <p:sp>
        <p:nvSpPr>
          <p:cNvPr id="60" name="TextBox 59"/>
          <p:cNvSpPr txBox="1"/>
          <p:nvPr/>
        </p:nvSpPr>
        <p:spPr>
          <a:xfrm>
            <a:off x="9552960" y="3877200"/>
            <a:ext cx="1992240" cy="198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모자이크</a:t>
            </a:r>
          </a:p>
        </p:txBody>
      </p:sp>
      <p:sp>
        <p:nvSpPr>
          <p:cNvPr id="61" name="TextBox 60"/>
          <p:cNvSpPr txBox="1"/>
          <p:nvPr/>
        </p:nvSpPr>
        <p:spPr>
          <a:xfrm>
            <a:off x="9516960" y="4172400"/>
            <a:ext cx="2064240" cy="151200"/>
          </a:xfrm>
          <a:prstGeom prst="rect">
            <a:avLst/>
          </a:prstGeom>
          <a:noFill/>
        </p:spPr>
        <p:txBody>
          <a:bodyPr wrap="square" lIns="0" rIns="0" tIns="0" bIns="0" anchor="t">
            <a:spAutoFit/>
          </a:bodyPr>
          <a:lstStyle/>
          <a:p>
            <a:pPr algn="ctr">
              <a:lnSpc>
                <a:spcPct val="130000"/>
              </a:lnSpc>
            </a:pPr>
            <a:r>
              <a:rPr sz="850" b="1">
                <a:solidFill>
                  <a:srgbClr val="8A93A3"/>
                </a:solidFill>
                <a:latin typeface="맑은 고딕"/>
              </a:rPr>
              <a:t>자체 도구</a:t>
            </a:r>
          </a:p>
        </p:txBody>
      </p:sp>
      <p:sp>
        <p:nvSpPr>
          <p:cNvPr id="62" name="TextBox 61"/>
          <p:cNvSpPr txBox="1"/>
          <p:nvPr/>
        </p:nvSpPr>
        <p:spPr>
          <a:xfrm>
            <a:off x="9617760" y="4374000"/>
            <a:ext cx="1862640" cy="792000"/>
          </a:xfrm>
          <a:prstGeom prst="rect">
            <a:avLst/>
          </a:prstGeom>
          <a:noFill/>
        </p:spPr>
        <p:txBody>
          <a:bodyPr wrap="square" lIns="0" rIns="0" tIns="0" bIns="0" anchor="t">
            <a:spAutoFit/>
          </a:bodyPr>
          <a:lstStyle/>
          <a:p>
            <a:pPr algn="l">
              <a:lnSpc>
                <a:spcPct val="130000"/>
              </a:lnSpc>
            </a:pPr>
            <a:r>
              <a:rPr sz="900" b="0">
                <a:solidFill>
                  <a:srgbClr val="5B6472"/>
                </a:solidFill>
                <a:latin typeface="맑은 고딕"/>
              </a:rPr>
              <a:t>공개 등급 기준에 맞춰 일괄 적용하고 결과를 검수합니다.</a:t>
            </a:r>
          </a:p>
        </p:txBody>
      </p:sp>
      <p:sp>
        <p:nvSpPr>
          <p:cNvPr id="63" name="Rounded Rectangle 62"/>
          <p:cNvSpPr/>
          <p:nvPr/>
        </p:nvSpPr>
        <p:spPr>
          <a:xfrm>
            <a:off x="612000" y="5327999"/>
            <a:ext cx="10969200" cy="378000"/>
          </a:xfrm>
          <a:prstGeom prst="roundRect">
            <a:avLst>
              <a:gd name="adj" fmla="val 5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74000" y="5435999"/>
            <a:ext cx="10645200" cy="180000"/>
          </a:xfrm>
          <a:prstGeom prst="rect">
            <a:avLst/>
          </a:prstGeom>
          <a:noFill/>
        </p:spPr>
        <p:txBody>
          <a:bodyPr wrap="square" lIns="0" rIns="0" tIns="0" bIns="0" anchor="t">
            <a:spAutoFit/>
          </a:bodyPr>
          <a:lstStyle/>
          <a:p>
            <a:pPr algn="l">
              <a:lnSpc>
                <a:spcPct val="130000"/>
              </a:lnSpc>
            </a:pPr>
            <a:r>
              <a:rPr sz="1050" b="1">
                <a:solidFill>
                  <a:srgbClr val="1F4EA8"/>
                </a:solidFill>
                <a:latin typeface="맑은 고딕"/>
              </a:rPr>
              <a:t>합류    두 트랙의 결과를 합쳐 작품에 올린 뒤, 조회수와 댓글을 확인해 다음 편 기획에 반영합니다.</a:t>
            </a:r>
          </a:p>
        </p:txBody>
      </p:sp>
      <p:sp>
        <p:nvSpPr>
          <p:cNvPr id="65" name="Rounded Rectangle 64"/>
          <p:cNvSpPr/>
          <p:nvPr/>
        </p:nvSpPr>
        <p:spPr>
          <a:xfrm>
            <a:off x="612000" y="5777999"/>
            <a:ext cx="10969200" cy="666000"/>
          </a:xfrm>
          <a:prstGeom prst="roundRect">
            <a:avLst>
              <a:gd name="adj" fmla="val 5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612000" y="5777999"/>
            <a:ext cx="46800" cy="666000"/>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92000" y="5857199"/>
            <a:ext cx="10609200" cy="162000"/>
          </a:xfrm>
          <a:prstGeom prst="rect">
            <a:avLst/>
          </a:prstGeom>
          <a:noFill/>
        </p:spPr>
        <p:txBody>
          <a:bodyPr wrap="square" lIns="0" rIns="0" tIns="0" bIns="0" anchor="t">
            <a:spAutoFit/>
          </a:bodyPr>
          <a:lstStyle/>
          <a:p>
            <a:pPr algn="l">
              <a:lnSpc>
                <a:spcPct val="130000"/>
              </a:lnSpc>
            </a:pPr>
            <a:r>
              <a:rPr sz="1050" b="1">
                <a:solidFill>
                  <a:srgbClr val="1B1E23"/>
                </a:solidFill>
                <a:latin typeface="맑은 고딕"/>
              </a:rPr>
              <a:t>향후 목표</a:t>
            </a:r>
          </a:p>
        </p:txBody>
      </p:sp>
      <p:sp>
        <p:nvSpPr>
          <p:cNvPr id="68" name="TextBox 67"/>
          <p:cNvSpPr txBox="1"/>
          <p:nvPr/>
        </p:nvSpPr>
        <p:spPr>
          <a:xfrm>
            <a:off x="792000" y="6047999"/>
            <a:ext cx="10609200" cy="360000"/>
          </a:xfrm>
          <a:prstGeom prst="rect">
            <a:avLst/>
          </a:prstGeom>
          <a:noFill/>
        </p:spPr>
        <p:txBody>
          <a:bodyPr wrap="square" lIns="0" rIns="0" tIns="0" bIns="0" anchor="t">
            <a:spAutoFit/>
          </a:bodyPr>
          <a:lstStyle/>
          <a:p>
            <a:pPr algn="l">
              <a:lnSpc>
                <a:spcPct val="135000"/>
              </a:lnSpc>
            </a:pPr>
            <a:r>
              <a:rPr sz="950" b="0">
                <a:solidFill>
                  <a:srgbClr val="5B6472"/>
                </a:solidFill>
                <a:latin typeface="맑은 고딕"/>
              </a:rPr>
              <a:t>AI 대화를 자동으로 진행시키고 대화 로그를 분석해 프롬프트 이행률을 정량 평가하는 도구를 구축하는 것을 목표로 하고 있습니다. 설정한 규칙의 준수 여부를 수치로 확인할 수 있게 되면, 프롬프트 개선을 정성적 판단이 아니라 데이터에 근거해 수행할 수 있습니다.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07</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HTML · 에셋 제작</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871200"/>
            <a:ext cx="10969200" cy="324000"/>
          </a:xfrm>
          <a:prstGeom prst="rect">
            <a:avLst/>
          </a:prstGeom>
          <a:noFill/>
        </p:spPr>
        <p:txBody>
          <a:bodyPr wrap="square" lIns="0" rIns="0" tIns="0" bIns="0" anchor="t">
            <a:spAutoFit/>
          </a:bodyPr>
          <a:lstStyle/>
          <a:p>
            <a:pPr algn="l">
              <a:lnSpc>
                <a:spcPct val="130000"/>
              </a:lnSpc>
            </a:pPr>
            <a:r>
              <a:rPr sz="1400" b="1">
                <a:solidFill>
                  <a:srgbClr val="1B1E23"/>
                </a:solidFill>
                <a:latin typeface="맑은 고딕"/>
              </a:rPr>
              <a:t>알플레이 상태창을 HTML로 직접 제작하며 HTML과 SVG 지식을 갖췄습니다.</a:t>
            </a:r>
          </a:p>
        </p:txBody>
      </p:sp>
      <p:pic>
        <p:nvPicPr>
          <p:cNvPr id="7" name="Picture 6" descr="상태창_구동화면.png"/>
          <p:cNvPicPr>
            <a:picLocks noChangeAspect="1"/>
          </p:cNvPicPr>
          <p:nvPr/>
        </p:nvPicPr>
        <p:blipFill>
          <a:blip r:embed="rId2"/>
          <a:stretch>
            <a:fillRect/>
          </a:stretch>
        </p:blipFill>
        <p:spPr>
          <a:xfrm>
            <a:off x="5602986" y="1278000"/>
            <a:ext cx="1908738" cy="2977062"/>
          </a:xfrm>
          <a:prstGeom prst="rect">
            <a:avLst/>
          </a:prstGeom>
        </p:spPr>
      </p:pic>
      <p:sp>
        <p:nvSpPr>
          <p:cNvPr id="8" name="TextBox 7"/>
          <p:cNvSpPr txBox="1"/>
          <p:nvPr/>
        </p:nvSpPr>
        <p:spPr>
          <a:xfrm>
            <a:off x="5602986" y="4319999"/>
            <a:ext cx="1908738" cy="216000"/>
          </a:xfrm>
          <a:prstGeom prst="rect">
            <a:avLst/>
          </a:prstGeom>
          <a:noFill/>
        </p:spPr>
        <p:txBody>
          <a:bodyPr wrap="square" lIns="0" rIns="0" tIns="0" bIns="0" anchor="t">
            <a:spAutoFit/>
          </a:bodyPr>
          <a:lstStyle/>
          <a:p>
            <a:pPr algn="ctr">
              <a:lnSpc>
                <a:spcPct val="130000"/>
              </a:lnSpc>
            </a:pPr>
            <a:r>
              <a:rPr sz="850" b="0">
                <a:solidFill>
                  <a:srgbClr val="8A93A3"/>
                </a:solidFill>
                <a:latin typeface="맑은 고딕"/>
              </a:rPr>
              <a:t>메인 화면 — 체력 게이지와 호감도·신뢰도·설렘 수치</a:t>
            </a:r>
          </a:p>
        </p:txBody>
      </p:sp>
      <p:pic>
        <p:nvPicPr>
          <p:cNvPr id="9" name="Picture 8" descr="상태창_인물정보.png"/>
          <p:cNvPicPr>
            <a:picLocks noChangeAspect="1"/>
          </p:cNvPicPr>
          <p:nvPr/>
        </p:nvPicPr>
        <p:blipFill>
          <a:blip r:embed="rId3"/>
          <a:stretch>
            <a:fillRect/>
          </a:stretch>
        </p:blipFill>
        <p:spPr>
          <a:xfrm>
            <a:off x="7637723" y="1278000"/>
            <a:ext cx="1908738" cy="2977062"/>
          </a:xfrm>
          <a:prstGeom prst="rect">
            <a:avLst/>
          </a:prstGeom>
        </p:spPr>
      </p:pic>
      <p:sp>
        <p:nvSpPr>
          <p:cNvPr id="10" name="TextBox 9"/>
          <p:cNvSpPr txBox="1"/>
          <p:nvPr/>
        </p:nvSpPr>
        <p:spPr>
          <a:xfrm>
            <a:off x="7637723" y="4319999"/>
            <a:ext cx="1908738" cy="216000"/>
          </a:xfrm>
          <a:prstGeom prst="rect">
            <a:avLst/>
          </a:prstGeom>
          <a:noFill/>
        </p:spPr>
        <p:txBody>
          <a:bodyPr wrap="square" lIns="0" rIns="0" tIns="0" bIns="0" anchor="t">
            <a:spAutoFit/>
          </a:bodyPr>
          <a:lstStyle/>
          <a:p>
            <a:pPr algn="ctr">
              <a:lnSpc>
                <a:spcPct val="130000"/>
              </a:lnSpc>
            </a:pPr>
            <a:r>
              <a:rPr sz="850" b="0">
                <a:solidFill>
                  <a:srgbClr val="8A93A3"/>
                </a:solidFill>
                <a:latin typeface="맑은 고딕"/>
              </a:rPr>
              <a:t>인물 정보 — 설정한 페르소나가 항목별로 표시됩니다</a:t>
            </a:r>
          </a:p>
        </p:txBody>
      </p:sp>
      <p:pic>
        <p:nvPicPr>
          <p:cNvPr id="11" name="Picture 10" descr="상태창_구역화면.png"/>
          <p:cNvPicPr>
            <a:picLocks noChangeAspect="1"/>
          </p:cNvPicPr>
          <p:nvPr/>
        </p:nvPicPr>
        <p:blipFill>
          <a:blip r:embed="rId4"/>
          <a:stretch>
            <a:fillRect/>
          </a:stretch>
        </p:blipFill>
        <p:spPr>
          <a:xfrm>
            <a:off x="9672461" y="1278000"/>
            <a:ext cx="1908738" cy="2977062"/>
          </a:xfrm>
          <a:prstGeom prst="rect">
            <a:avLst/>
          </a:prstGeom>
        </p:spPr>
      </p:pic>
      <p:sp>
        <p:nvSpPr>
          <p:cNvPr id="12" name="TextBox 11"/>
          <p:cNvSpPr txBox="1"/>
          <p:nvPr/>
        </p:nvSpPr>
        <p:spPr>
          <a:xfrm>
            <a:off x="9672461" y="4319999"/>
            <a:ext cx="1908738" cy="216000"/>
          </a:xfrm>
          <a:prstGeom prst="rect">
            <a:avLst/>
          </a:prstGeom>
          <a:noFill/>
        </p:spPr>
        <p:txBody>
          <a:bodyPr wrap="square" lIns="0" rIns="0" tIns="0" bIns="0" anchor="t">
            <a:spAutoFit/>
          </a:bodyPr>
          <a:lstStyle/>
          <a:p>
            <a:pPr algn="ctr">
              <a:lnSpc>
                <a:spcPct val="130000"/>
              </a:lnSpc>
            </a:pPr>
            <a:r>
              <a:rPr sz="850" b="0">
                <a:solidFill>
                  <a:srgbClr val="8A93A3"/>
                </a:solidFill>
                <a:latin typeface="맑은 고딕"/>
              </a:rPr>
              <a:t>구역 화면 — 이동 가능한 장소와 소요 시간 표시</a:t>
            </a:r>
          </a:p>
        </p:txBody>
      </p:sp>
      <p:sp>
        <p:nvSpPr>
          <p:cNvPr id="13" name="TextBox 12"/>
          <p:cNvSpPr txBox="1"/>
          <p:nvPr/>
        </p:nvSpPr>
        <p:spPr>
          <a:xfrm>
            <a:off x="612000" y="1278000"/>
            <a:ext cx="4666986" cy="360000"/>
          </a:xfrm>
          <a:prstGeom prst="rect">
            <a:avLst/>
          </a:prstGeom>
          <a:noFill/>
        </p:spPr>
        <p:txBody>
          <a:bodyPr wrap="square" lIns="0" rIns="0" tIns="0" bIns="0" anchor="t">
            <a:spAutoFit/>
          </a:bodyPr>
          <a:lstStyle/>
          <a:p>
            <a:pPr algn="l">
              <a:lnSpc>
                <a:spcPct val="130000"/>
              </a:lnSpc>
            </a:pPr>
            <a:r>
              <a:rPr sz="1050" b="0">
                <a:solidFill>
                  <a:srgbClr val="5B6472"/>
                </a:solidFill>
                <a:latin typeface="맑은 고딕"/>
              </a:rPr>
              <a:t>이 플랫폼의 상태창은 제작자가 HTML을 직접 작성해 붙이는 방식입니다. 22편 중 15편에 직접 만들었습니다.</a:t>
            </a:r>
          </a:p>
        </p:txBody>
      </p:sp>
      <p:graphicFrame>
        <p:nvGraphicFramePr>
          <p:cNvPr id="14" name="Table 13"/>
          <p:cNvGraphicFramePr>
            <a:graphicFrameLocks noGrp="1"/>
          </p:cNvGraphicFramePr>
          <p:nvPr/>
        </p:nvGraphicFramePr>
        <p:xfrm>
          <a:off x="612000" y="1728000"/>
          <a:ext cx="4666986" cy="2160000"/>
        </p:xfrm>
        <a:graphic>
          <a:graphicData uri="http://schemas.openxmlformats.org/drawingml/2006/table">
            <a:tbl>
              <a:tblPr firstRow="1" bandRow="1">
                <a:tableStyleId>{5C22544A-7EE6-4342-B048-85BDC9FD1C3A}</a:tableStyleId>
              </a:tblPr>
              <a:tblGrid>
                <a:gridCol w="1248147"/>
                <a:gridCol w="3418839"/>
              </a:tblGrid>
              <a:tr h="540000">
                <a:tc>
                  <a:txBody>
                    <a:bodyPr/>
                    <a:lstStyle/>
                    <a:p>
                      <a:pPr algn="ctr">
                        <a:lnSpc>
                          <a:spcPct val="125000"/>
                        </a:lnSpc>
                      </a:pPr>
                      <a:r>
                        <a:rPr sz="950" b="1">
                          <a:solidFill>
                            <a:srgbClr val="1F4EA8"/>
                          </a:solidFill>
                          <a:latin typeface="맑은 고딕"/>
                        </a:rPr>
                        <a:t>사용 기술</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HTML · CSS · SVG · JavaScript</a:t>
                      </a:r>
                    </a:p>
                  </a:txBody>
                  <a:tcPr marL="79200" marR="79200" marT="28800" marB="28800" anchor="ctr">
                    <a:solidFill>
                      <a:srgbClr val="FFFFFF"/>
                    </a:solidFill>
                  </a:tcPr>
                </a:tc>
              </a:tr>
              <a:tr h="540000">
                <a:tc>
                  <a:txBody>
                    <a:bodyPr/>
                    <a:lstStyle/>
                    <a:p>
                      <a:pPr algn="ctr">
                        <a:lnSpc>
                          <a:spcPct val="125000"/>
                        </a:lnSpc>
                      </a:pPr>
                      <a:r>
                        <a:rPr sz="950" b="1">
                          <a:solidFill>
                            <a:srgbClr val="1F4EA8"/>
                          </a:solidFill>
                          <a:latin typeface="맑은 고딕"/>
                        </a:rPr>
                        <a:t>구현 범위</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공개작 22편 중 15편 · 인물별 분기판 포함</a:t>
                      </a:r>
                    </a:p>
                  </a:txBody>
                  <a:tcPr marL="79200" marR="79200" marT="28800" marB="28800" anchor="ctr">
                    <a:solidFill>
                      <a:srgbClr val="FFFFFF"/>
                    </a:solidFill>
                  </a:tcPr>
                </a:tc>
              </a:tr>
              <a:tr h="540000">
                <a:tc>
                  <a:txBody>
                    <a:bodyPr/>
                    <a:lstStyle/>
                    <a:p>
                      <a:pPr algn="ctr">
                        <a:lnSpc>
                          <a:spcPct val="125000"/>
                        </a:lnSpc>
                      </a:pPr>
                      <a:r>
                        <a:rPr sz="950" b="1">
                          <a:solidFill>
                            <a:srgbClr val="1F4EA8"/>
                          </a:solidFill>
                          <a:latin typeface="맑은 고딕"/>
                        </a:rPr>
                        <a:t>구성</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카드형 레이아웃 · 하단 탭 전환 · 대화 변수 연동 표시 · 조건 충족 시 항목 해금</a:t>
                      </a:r>
                    </a:p>
                  </a:txBody>
                  <a:tcPr marL="79200" marR="79200" marT="28800" marB="28800" anchor="ctr">
                    <a:solidFill>
                      <a:srgbClr val="FFFFFF"/>
                    </a:solidFill>
                  </a:tcPr>
                </a:tc>
              </a:tr>
              <a:tr h="540000">
                <a:tc>
                  <a:txBody>
                    <a:bodyPr/>
                    <a:lstStyle/>
                    <a:p>
                      <a:pPr algn="ctr">
                        <a:lnSpc>
                          <a:spcPct val="125000"/>
                        </a:lnSpc>
                      </a:pPr>
                      <a:r>
                        <a:rPr sz="950" b="1">
                          <a:solidFill>
                            <a:srgbClr val="1F4EA8"/>
                          </a:solidFill>
                          <a:latin typeface="맑은 고딕"/>
                        </a:rPr>
                        <a:t>출력</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게이지와 아이콘을 SVG로 그려 해상도에 관계없이 선명하게 출력</a:t>
                      </a:r>
                    </a:p>
                  </a:txBody>
                  <a:tcPr marL="79200" marR="79200" marT="28800" marB="28800" anchor="ctr">
                    <a:solidFill>
                      <a:srgbClr val="FFFFFF"/>
                    </a:solidFill>
                  </a:tcPr>
                </a:tc>
              </a:tr>
            </a:tbl>
          </a:graphicData>
        </a:graphic>
      </p:graphicFrame>
      <p:sp>
        <p:nvSpPr>
          <p:cNvPr id="15" name="TextBox 14"/>
          <p:cNvSpPr txBox="1"/>
          <p:nvPr/>
        </p:nvSpPr>
        <p:spPr>
          <a:xfrm>
            <a:off x="612000" y="4122000"/>
            <a:ext cx="4666986" cy="216000"/>
          </a:xfrm>
          <a:prstGeom prst="rect">
            <a:avLst/>
          </a:prstGeom>
          <a:noFill/>
        </p:spPr>
        <p:txBody>
          <a:bodyPr wrap="square" lIns="0" rIns="0" tIns="0" bIns="0" anchor="t">
            <a:spAutoFit/>
          </a:bodyPr>
          <a:lstStyle/>
          <a:p>
            <a:pPr algn="l">
              <a:lnSpc>
                <a:spcPct val="130000"/>
              </a:lnSpc>
            </a:pPr>
            <a:r>
              <a:rPr sz="1200" b="1">
                <a:solidFill>
                  <a:srgbClr val="1F4EA8"/>
                </a:solidFill>
                <a:latin typeface="맑은 고딕"/>
              </a:rPr>
              <a:t>에셋 제작</a:t>
            </a:r>
          </a:p>
        </p:txBody>
      </p:sp>
      <p:sp>
        <p:nvSpPr>
          <p:cNvPr id="16" name="TextBox 15"/>
          <p:cNvSpPr txBox="1"/>
          <p:nvPr/>
        </p:nvSpPr>
        <p:spPr>
          <a:xfrm>
            <a:off x="612000" y="4366800"/>
            <a:ext cx="4666986" cy="396000"/>
          </a:xfrm>
          <a:prstGeom prst="rect">
            <a:avLst/>
          </a:prstGeom>
          <a:noFill/>
        </p:spPr>
        <p:txBody>
          <a:bodyPr wrap="square" lIns="0" rIns="0" tIns="0" bIns="0" anchor="t">
            <a:spAutoFit/>
          </a:bodyPr>
          <a:lstStyle/>
          <a:p>
            <a:pPr algn="l">
              <a:lnSpc>
                <a:spcPct val="130000"/>
              </a:lnSpc>
            </a:pPr>
            <a:r>
              <a:rPr sz="950" b="0">
                <a:solidFill>
                  <a:srgbClr val="5B6472"/>
                </a:solidFill>
                <a:latin typeface="맑은 고딕"/>
              </a:rPr>
              <a:t>배경은 공간 단위로 정의해 낮 · 밤 세트로 묶어 재사용하며, 간단한 BGM과 효과음도 직접 작업합니다.</a:t>
            </a:r>
          </a:p>
        </p:txBody>
      </p:sp>
      <p:pic>
        <p:nvPicPr>
          <p:cNvPr id="17" name="Picture 16" descr="bg_home_living_day.png"/>
          <p:cNvPicPr>
            <a:picLocks noChangeAspect="1"/>
          </p:cNvPicPr>
          <p:nvPr/>
        </p:nvPicPr>
        <p:blipFill>
          <a:blip r:embed="rId5"/>
          <a:stretch>
            <a:fillRect/>
          </a:stretch>
        </p:blipFill>
        <p:spPr>
          <a:xfrm>
            <a:off x="679284" y="4842000"/>
            <a:ext cx="2108924" cy="1440000"/>
          </a:xfrm>
          <a:prstGeom prst="rect">
            <a:avLst/>
          </a:prstGeom>
        </p:spPr>
      </p:pic>
      <p:sp>
        <p:nvSpPr>
          <p:cNvPr id="18" name="TextBox 17"/>
          <p:cNvSpPr txBox="1"/>
          <p:nvPr/>
        </p:nvSpPr>
        <p:spPr>
          <a:xfrm>
            <a:off x="612000" y="6336000"/>
            <a:ext cx="2243493" cy="216000"/>
          </a:xfrm>
          <a:prstGeom prst="rect">
            <a:avLst/>
          </a:prstGeom>
          <a:noFill/>
        </p:spPr>
        <p:txBody>
          <a:bodyPr wrap="square" lIns="0" rIns="0" tIns="0" bIns="0" anchor="t">
            <a:spAutoFit/>
          </a:bodyPr>
          <a:lstStyle/>
          <a:p>
            <a:pPr algn="ctr">
              <a:lnSpc>
                <a:spcPct val="130000"/>
              </a:lnSpc>
            </a:pPr>
            <a:r>
              <a:rPr sz="850" b="0">
                <a:solidFill>
                  <a:srgbClr val="8A93A3"/>
                </a:solidFill>
                <a:latin typeface="맑은 고딕"/>
              </a:rPr>
              <a:t>자취방 · 거실 (낮)</a:t>
            </a:r>
          </a:p>
        </p:txBody>
      </p:sp>
      <p:pic>
        <p:nvPicPr>
          <p:cNvPr id="19" name="Picture 18" descr="bg_home_living_night.png"/>
          <p:cNvPicPr>
            <a:picLocks noChangeAspect="1"/>
          </p:cNvPicPr>
          <p:nvPr/>
        </p:nvPicPr>
        <p:blipFill>
          <a:blip r:embed="rId6"/>
          <a:stretch>
            <a:fillRect/>
          </a:stretch>
        </p:blipFill>
        <p:spPr>
          <a:xfrm>
            <a:off x="3102777" y="4842000"/>
            <a:ext cx="2108924" cy="1440000"/>
          </a:xfrm>
          <a:prstGeom prst="rect">
            <a:avLst/>
          </a:prstGeom>
        </p:spPr>
      </p:pic>
      <p:sp>
        <p:nvSpPr>
          <p:cNvPr id="20" name="TextBox 19"/>
          <p:cNvSpPr txBox="1"/>
          <p:nvPr/>
        </p:nvSpPr>
        <p:spPr>
          <a:xfrm>
            <a:off x="3035493" y="6336000"/>
            <a:ext cx="2243493" cy="216000"/>
          </a:xfrm>
          <a:prstGeom prst="rect">
            <a:avLst/>
          </a:prstGeom>
          <a:noFill/>
        </p:spPr>
        <p:txBody>
          <a:bodyPr wrap="square" lIns="0" rIns="0" tIns="0" bIns="0" anchor="t">
            <a:spAutoFit/>
          </a:bodyPr>
          <a:lstStyle/>
          <a:p>
            <a:pPr algn="ctr">
              <a:lnSpc>
                <a:spcPct val="130000"/>
              </a:lnSpc>
            </a:pPr>
            <a:r>
              <a:rPr sz="850" b="0">
                <a:solidFill>
                  <a:srgbClr val="8A93A3"/>
                </a:solidFill>
                <a:latin typeface="맑은 고딕"/>
              </a:rPr>
              <a:t>자취방 · 거실 (밤)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08</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졸업과제 — GAIA: Behind Your Words</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871200"/>
            <a:ext cx="10969200" cy="324000"/>
          </a:xfrm>
          <a:prstGeom prst="rect">
            <a:avLst/>
          </a:prstGeom>
          <a:noFill/>
        </p:spPr>
        <p:txBody>
          <a:bodyPr wrap="square" lIns="0" rIns="0" tIns="0" bIns="0" anchor="t">
            <a:spAutoFit/>
          </a:bodyPr>
          <a:lstStyle/>
          <a:p>
            <a:pPr algn="l">
              <a:lnSpc>
                <a:spcPct val="130000"/>
              </a:lnSpc>
            </a:pPr>
            <a:r>
              <a:rPr sz="1400" b="1">
                <a:solidFill>
                  <a:srgbClr val="1B1E23"/>
                </a:solidFill>
                <a:latin typeface="맑은 고딕"/>
              </a:rPr>
              <a:t>AI 응답의 자유도와 서사 통제를 동시에 만족시키는 구조를 설계했습니다.</a:t>
            </a:r>
          </a:p>
        </p:txBody>
      </p:sp>
      <p:graphicFrame>
        <p:nvGraphicFramePr>
          <p:cNvPr id="7" name="Table 6"/>
          <p:cNvGraphicFramePr>
            <a:graphicFrameLocks noGrp="1"/>
          </p:cNvGraphicFramePr>
          <p:nvPr/>
        </p:nvGraphicFramePr>
        <p:xfrm>
          <a:off x="612000" y="1278000"/>
          <a:ext cx="5045832" cy="1612800"/>
        </p:xfrm>
        <a:graphic>
          <a:graphicData uri="http://schemas.openxmlformats.org/drawingml/2006/table">
            <a:tbl>
              <a:tblPr firstRow="1" bandRow="1">
                <a:tableStyleId>{5C22544A-7EE6-4342-B048-85BDC9FD1C3A}</a:tableStyleId>
              </a:tblPr>
              <a:tblGrid>
                <a:gridCol w="1327851"/>
                <a:gridCol w="3717981"/>
              </a:tblGrid>
              <a:tr h="403200">
                <a:tc>
                  <a:txBody>
                    <a:bodyPr/>
                    <a:lstStyle/>
                    <a:p>
                      <a:pPr algn="ctr">
                        <a:lnSpc>
                          <a:spcPct val="125000"/>
                        </a:lnSpc>
                      </a:pPr>
                      <a:r>
                        <a:rPr sz="950" b="1">
                          <a:solidFill>
                            <a:srgbClr val="1F4EA8"/>
                          </a:solidFill>
                          <a:latin typeface="맑은 고딕"/>
                        </a:rPr>
                        <a:t>기간 · 구성</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2026. 03. ~ 2026. 06.  ·  3인 팀</a:t>
                      </a:r>
                    </a:p>
                  </a:txBody>
                  <a:tcPr marL="79200" marR="79200" marT="28800" marB="28800" anchor="ctr">
                    <a:solidFill>
                      <a:srgbClr val="FFFFFF"/>
                    </a:solidFill>
                  </a:tcPr>
                </a:tc>
              </a:tr>
              <a:tr h="403200">
                <a:tc>
                  <a:txBody>
                    <a:bodyPr/>
                    <a:lstStyle/>
                    <a:p>
                      <a:pPr algn="ctr">
                        <a:lnSpc>
                          <a:spcPct val="125000"/>
                        </a:lnSpc>
                      </a:pPr>
                      <a:r>
                        <a:rPr sz="950" b="1">
                          <a:solidFill>
                            <a:srgbClr val="1F4EA8"/>
                          </a:solidFill>
                          <a:latin typeface="맑은 고딕"/>
                        </a:rPr>
                        <a:t>담당</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AI 응답 프로토콜 설계 · 다중 프롬프트 구조 구축 및 실사용 · 캐릭터 디자인 · 씬 검증 및 디버깅</a:t>
                      </a:r>
                    </a:p>
                  </a:txBody>
                  <a:tcPr marL="79200" marR="79200" marT="28800" marB="28800" anchor="ctr">
                    <a:solidFill>
                      <a:srgbClr val="FFFFFF"/>
                    </a:solidFill>
                  </a:tcPr>
                </a:tc>
              </a:tr>
              <a:tr h="403200">
                <a:tc>
                  <a:txBody>
                    <a:bodyPr/>
                    <a:lstStyle/>
                    <a:p>
                      <a:pPr algn="ctr">
                        <a:lnSpc>
                          <a:spcPct val="125000"/>
                        </a:lnSpc>
                      </a:pPr>
                      <a:r>
                        <a:rPr sz="950" b="1">
                          <a:solidFill>
                            <a:srgbClr val="1F4EA8"/>
                          </a:solidFill>
                          <a:latin typeface="맑은 고딕"/>
                        </a:rPr>
                        <a:t>기술</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Unity 2022.3.42f1 · C# · Google Gemini Flash API</a:t>
                      </a:r>
                    </a:p>
                  </a:txBody>
                  <a:tcPr marL="79200" marR="79200" marT="28800" marB="28800" anchor="ctr">
                    <a:solidFill>
                      <a:srgbClr val="FFFFFF"/>
                    </a:solidFill>
                  </a:tcPr>
                </a:tc>
              </a:tr>
              <a:tr h="403200">
                <a:tc>
                  <a:txBody>
                    <a:bodyPr/>
                    <a:lstStyle/>
                    <a:p>
                      <a:pPr algn="ctr">
                        <a:lnSpc>
                          <a:spcPct val="125000"/>
                        </a:lnSpc>
                      </a:pPr>
                      <a:r>
                        <a:rPr sz="950" b="1">
                          <a:solidFill>
                            <a:srgbClr val="1F4EA8"/>
                          </a:solidFill>
                          <a:latin typeface="맑은 고딕"/>
                        </a:rPr>
                        <a:t>상태</a:t>
                      </a:r>
                    </a:p>
                  </a:txBody>
                  <a:tcPr marL="79200" marR="79200" marT="28800" marB="28800" anchor="ctr">
                    <a:solidFill>
                      <a:srgbClr val="FAFBFD"/>
                    </a:solidFill>
                  </a:tcPr>
                </a:tc>
                <a:tc>
                  <a:txBody>
                    <a:bodyPr/>
                    <a:lstStyle/>
                    <a:p>
                      <a:pPr algn="l">
                        <a:lnSpc>
                          <a:spcPct val="125000"/>
                        </a:lnSpc>
                      </a:pPr>
                      <a:r>
                        <a:rPr sz="950" b="0">
                          <a:solidFill>
                            <a:srgbClr val="1B1E23"/>
                          </a:solidFill>
                          <a:latin typeface="맑은 고딕"/>
                        </a:rPr>
                        <a:t>완료</a:t>
                      </a:r>
                    </a:p>
                  </a:txBody>
                  <a:tcPr marL="79200" marR="79200" marT="28800" marB="28800" anchor="ctr">
                    <a:solidFill>
                      <a:srgbClr val="FFFFFF"/>
                    </a:solidFill>
                  </a:tcPr>
                </a:tc>
              </a:tr>
            </a:tbl>
          </a:graphicData>
        </a:graphic>
      </p:graphicFrame>
      <p:sp>
        <p:nvSpPr>
          <p:cNvPr id="8" name="TextBox 7"/>
          <p:cNvSpPr txBox="1"/>
          <p:nvPr/>
        </p:nvSpPr>
        <p:spPr>
          <a:xfrm>
            <a:off x="612000" y="2988000"/>
            <a:ext cx="5045832" cy="216000"/>
          </a:xfrm>
          <a:prstGeom prst="rect">
            <a:avLst/>
          </a:prstGeom>
          <a:noFill/>
        </p:spPr>
        <p:txBody>
          <a:bodyPr wrap="square" lIns="0" rIns="0" tIns="0" bIns="0" anchor="t">
            <a:spAutoFit/>
          </a:bodyPr>
          <a:lstStyle/>
          <a:p>
            <a:pPr algn="l">
              <a:lnSpc>
                <a:spcPct val="130000"/>
              </a:lnSpc>
            </a:pPr>
            <a:r>
              <a:rPr sz="1100" b="1">
                <a:solidFill>
                  <a:srgbClr val="1F4EA8"/>
                </a:solidFill>
                <a:latin typeface="맑은 고딕"/>
              </a:rPr>
              <a:t>해결한 문제</a:t>
            </a:r>
          </a:p>
        </p:txBody>
      </p:sp>
      <p:sp>
        <p:nvSpPr>
          <p:cNvPr id="9" name="TextBox 8"/>
          <p:cNvSpPr txBox="1"/>
          <p:nvPr/>
        </p:nvSpPr>
        <p:spPr>
          <a:xfrm>
            <a:off x="612000" y="3211200"/>
            <a:ext cx="5045832" cy="540000"/>
          </a:xfrm>
          <a:prstGeom prst="rect">
            <a:avLst/>
          </a:prstGeom>
          <a:noFill/>
        </p:spPr>
        <p:txBody>
          <a:bodyPr wrap="square" lIns="0" rIns="0" tIns="0" bIns="0" anchor="t">
            <a:spAutoFit/>
          </a:bodyPr>
          <a:lstStyle/>
          <a:p>
            <a:pPr algn="l">
              <a:lnSpc>
                <a:spcPct val="130000"/>
              </a:lnSpc>
            </a:pPr>
            <a:r>
              <a:rPr sz="950" b="0">
                <a:solidFill>
                  <a:srgbClr val="5B6472"/>
                </a:solidFill>
                <a:latin typeface="맑은 고딕"/>
              </a:rPr>
              <a:t>AI 응답의 자유도와 서사 통제의 균형 — 자유 대화를 허용하면 사건이 무너지고, 통제하면 AI를 쓸 이유가 사라집니다.</a:t>
            </a:r>
          </a:p>
        </p:txBody>
      </p:sp>
      <p:sp>
        <p:nvSpPr>
          <p:cNvPr id="10" name="TextBox 9"/>
          <p:cNvSpPr txBox="1"/>
          <p:nvPr/>
        </p:nvSpPr>
        <p:spPr>
          <a:xfrm>
            <a:off x="612000" y="3815999"/>
            <a:ext cx="5045832" cy="1152000"/>
          </a:xfrm>
          <a:prstGeom prst="rect">
            <a:avLst/>
          </a:prstGeom>
          <a:noFill/>
        </p:spPr>
        <p:txBody>
          <a:bodyPr wrap="square" lIns="0" rIns="0" tIns="0" bIns="0" anchor="t">
            <a:spAutoFit/>
          </a:bodyPr>
          <a:lstStyle/>
          <a:p>
            <a:pPr algn="l">
              <a:lnSpc>
                <a:spcPct val="130000"/>
              </a:lnSpc>
            </a:pPr>
            <a:r>
              <a:rPr sz="950" b="0">
                <a:solidFill>
                  <a:srgbClr val="5B6472"/>
                </a:solidFill>
                <a:latin typeface="맑은 고딕"/>
              </a:rPr>
              <a:t>프롬프트를 13개 계층으로 분리해 파일 단위로 관리했습니다. 인물의 정체성과 성격, 세계관 설정, 행동 보정 규칙, 트라우마 조각, 감정 테이블, 턴 예산과 최종 판정까지 각각을 독립된 프로토콜로 두고 조합해 하나의 응답 프로토콜을 만듭니다. 여기에 최근 대화·요약·맥락 노트의 3단계 기억을 붙여 재방문에도 맥락이 유지되게 했고, 하루 대화량에 상한을 두어 자유롭게 묻되 사건은 정해진 흐름으로 수렴하게 했습니다.</a:t>
            </a:r>
          </a:p>
        </p:txBody>
      </p:sp>
      <p:sp>
        <p:nvSpPr>
          <p:cNvPr id="11" name="Rounded Rectangle 10"/>
          <p:cNvSpPr/>
          <p:nvPr/>
        </p:nvSpPr>
        <p:spPr>
          <a:xfrm>
            <a:off x="612000" y="5903999"/>
            <a:ext cx="5045832" cy="503999"/>
          </a:xfrm>
          <a:prstGeom prst="roundRect">
            <a:avLst>
              <a:gd name="adj" fmla="val 5000"/>
            </a:avLst>
          </a:prstGeom>
          <a:solidFill>
            <a:srgbClr val="FFF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12000" y="5903999"/>
            <a:ext cx="46800" cy="503999"/>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4000" y="5975999"/>
            <a:ext cx="4721832" cy="360000"/>
          </a:xfrm>
          <a:prstGeom prst="rect">
            <a:avLst/>
          </a:prstGeom>
          <a:noFill/>
        </p:spPr>
        <p:txBody>
          <a:bodyPr wrap="square" lIns="0" rIns="0" tIns="0" bIns="0" anchor="t">
            <a:spAutoFit/>
          </a:bodyPr>
          <a:lstStyle/>
          <a:p>
            <a:pPr algn="l">
              <a:lnSpc>
                <a:spcPct val="130000"/>
              </a:lnSpc>
            </a:pPr>
            <a:r>
              <a:rPr sz="950" b="1">
                <a:solidFill>
                  <a:srgbClr val="1B1E23"/>
                </a:solidFill>
                <a:latin typeface="맑은 고딕"/>
              </a:rPr>
              <a:t>선택지를 고르는 방식이 아니라 무엇을 어떻게 물을 것인가가 곧 플레이가 되도록 설계했습니다.</a:t>
            </a:r>
          </a:p>
        </p:txBody>
      </p:sp>
      <p:pic>
        <p:nvPicPr>
          <p:cNvPr id="14" name="Picture 13" descr="졸업과제_프롬프트폴더.png"/>
          <p:cNvPicPr>
            <a:picLocks noChangeAspect="1"/>
          </p:cNvPicPr>
          <p:nvPr/>
        </p:nvPicPr>
        <p:blipFill>
          <a:blip r:embed="rId2"/>
          <a:stretch>
            <a:fillRect/>
          </a:stretch>
        </p:blipFill>
        <p:spPr>
          <a:xfrm>
            <a:off x="5945832" y="1278000"/>
            <a:ext cx="2727684" cy="1183657"/>
          </a:xfrm>
          <a:prstGeom prst="rect">
            <a:avLst/>
          </a:prstGeom>
        </p:spPr>
      </p:pic>
      <p:sp>
        <p:nvSpPr>
          <p:cNvPr id="15" name="TextBox 14"/>
          <p:cNvSpPr txBox="1"/>
          <p:nvPr/>
        </p:nvSpPr>
        <p:spPr>
          <a:xfrm>
            <a:off x="5945832" y="2880000"/>
            <a:ext cx="2727684" cy="216000"/>
          </a:xfrm>
          <a:prstGeom prst="rect">
            <a:avLst/>
          </a:prstGeom>
          <a:noFill/>
        </p:spPr>
        <p:txBody>
          <a:bodyPr wrap="square" lIns="0" rIns="0" tIns="0" bIns="0" anchor="t">
            <a:spAutoFit/>
          </a:bodyPr>
          <a:lstStyle/>
          <a:p>
            <a:pPr algn="ctr">
              <a:lnSpc>
                <a:spcPct val="130000"/>
              </a:lnSpc>
            </a:pPr>
            <a:r>
              <a:rPr sz="850" b="0">
                <a:solidFill>
                  <a:srgbClr val="8A93A3"/>
                </a:solidFill>
                <a:latin typeface="맑은 고딕"/>
              </a:rPr>
              <a:t>13계층 프롬프트 프로토콜 — 00~12번 파일로 분리</a:t>
            </a:r>
          </a:p>
        </p:txBody>
      </p:sp>
      <p:pic>
        <p:nvPicPr>
          <p:cNvPr id="16" name="Picture 15" descr="졸업과제_캐릭터디자인.png"/>
          <p:cNvPicPr>
            <a:picLocks noChangeAspect="1"/>
          </p:cNvPicPr>
          <p:nvPr/>
        </p:nvPicPr>
        <p:blipFill>
          <a:blip r:embed="rId3"/>
          <a:stretch>
            <a:fillRect/>
          </a:stretch>
        </p:blipFill>
        <p:spPr>
          <a:xfrm>
            <a:off x="9162923" y="1278000"/>
            <a:ext cx="2108870" cy="1548000"/>
          </a:xfrm>
          <a:prstGeom prst="rect">
            <a:avLst/>
          </a:prstGeom>
        </p:spPr>
      </p:pic>
      <p:sp>
        <p:nvSpPr>
          <p:cNvPr id="17" name="TextBox 16"/>
          <p:cNvSpPr txBox="1"/>
          <p:nvPr/>
        </p:nvSpPr>
        <p:spPr>
          <a:xfrm>
            <a:off x="8853516" y="2880000"/>
            <a:ext cx="2727684" cy="216000"/>
          </a:xfrm>
          <a:prstGeom prst="rect">
            <a:avLst/>
          </a:prstGeom>
          <a:noFill/>
        </p:spPr>
        <p:txBody>
          <a:bodyPr wrap="square" lIns="0" rIns="0" tIns="0" bIns="0" anchor="t">
            <a:spAutoFit/>
          </a:bodyPr>
          <a:lstStyle/>
          <a:p>
            <a:pPr algn="ctr">
              <a:lnSpc>
                <a:spcPct val="130000"/>
              </a:lnSpc>
            </a:pPr>
            <a:r>
              <a:rPr sz="850" b="0">
                <a:solidFill>
                  <a:srgbClr val="8A93A3"/>
                </a:solidFill>
                <a:latin typeface="맑은 고딕"/>
              </a:rPr>
              <a:t>등장인물 캐릭터 디자인 — 직접 제작</a:t>
            </a:r>
          </a:p>
        </p:txBody>
      </p:sp>
      <p:pic>
        <p:nvPicPr>
          <p:cNvPr id="18" name="Picture 17" descr="졸업과제_대화스크립트.png"/>
          <p:cNvPicPr>
            <a:picLocks noChangeAspect="1"/>
          </p:cNvPicPr>
          <p:nvPr/>
        </p:nvPicPr>
        <p:blipFill>
          <a:blip r:embed="rId4"/>
          <a:stretch>
            <a:fillRect/>
          </a:stretch>
        </p:blipFill>
        <p:spPr>
          <a:xfrm>
            <a:off x="6761861" y="3222000"/>
            <a:ext cx="4003309" cy="1872000"/>
          </a:xfrm>
          <a:prstGeom prst="rect">
            <a:avLst/>
          </a:prstGeom>
        </p:spPr>
      </p:pic>
      <p:sp>
        <p:nvSpPr>
          <p:cNvPr id="19" name="TextBox 18"/>
          <p:cNvSpPr txBox="1"/>
          <p:nvPr/>
        </p:nvSpPr>
        <p:spPr>
          <a:xfrm>
            <a:off x="5945832" y="5129999"/>
            <a:ext cx="5635368" cy="216000"/>
          </a:xfrm>
          <a:prstGeom prst="rect">
            <a:avLst/>
          </a:prstGeom>
          <a:noFill/>
        </p:spPr>
        <p:txBody>
          <a:bodyPr wrap="square" lIns="0" rIns="0" tIns="0" bIns="0" anchor="t">
            <a:spAutoFit/>
          </a:bodyPr>
          <a:lstStyle/>
          <a:p>
            <a:pPr algn="ctr">
              <a:lnSpc>
                <a:spcPct val="130000"/>
              </a:lnSpc>
            </a:pPr>
            <a:r>
              <a:rPr sz="850" b="0">
                <a:solidFill>
                  <a:srgbClr val="8A93A3"/>
                </a:solidFill>
                <a:latin typeface="맑은 고딕"/>
              </a:rPr>
              <a:t>비주얼 노벨 대화 스크립트 — 신뢰도 변화값 포함</a:t>
            </a:r>
          </a:p>
        </p:txBody>
      </p:sp>
      <p:sp>
        <p:nvSpPr>
          <p:cNvPr id="20" name="TextBox 19"/>
          <p:cNvSpPr txBox="1"/>
          <p:nvPr/>
        </p:nvSpPr>
        <p:spPr>
          <a:xfrm>
            <a:off x="5945832" y="6227999"/>
            <a:ext cx="5635368" cy="180000"/>
          </a:xfrm>
          <a:prstGeom prst="rect">
            <a:avLst/>
          </a:prstGeom>
          <a:noFill/>
        </p:spPr>
        <p:txBody>
          <a:bodyPr wrap="square" lIns="0" rIns="0" tIns="0" bIns="0" anchor="t">
            <a:spAutoFit/>
          </a:bodyPr>
          <a:lstStyle/>
          <a:p>
            <a:pPr algn="l">
              <a:lnSpc>
                <a:spcPct val="130000"/>
              </a:lnSpc>
            </a:pPr>
            <a:r>
              <a:rPr sz="950" b="1">
                <a:solidFill>
                  <a:srgbClr val="1F4EA8"/>
                </a:solidFill>
                <a:latin typeface="맑은 고딕"/>
              </a:rPr>
              <a:t>저장소  https://github.com/can6563/capstone-2026-behind-your-words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12000" y="342000"/>
            <a:ext cx="450000" cy="295200"/>
          </a:xfrm>
          <a:prstGeom prst="roundRect">
            <a:avLst>
              <a:gd name="adj" fmla="val 18000"/>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12000" y="388800"/>
            <a:ext cx="450000" cy="216000"/>
          </a:xfrm>
          <a:prstGeom prst="rect">
            <a:avLst/>
          </a:prstGeom>
          <a:noFill/>
        </p:spPr>
        <p:txBody>
          <a:bodyPr wrap="square" lIns="0" rIns="0" tIns="0" bIns="0" anchor="t">
            <a:spAutoFit/>
          </a:bodyPr>
          <a:lstStyle/>
          <a:p>
            <a:pPr algn="ctr">
              <a:lnSpc>
                <a:spcPct val="130000"/>
              </a:lnSpc>
            </a:pPr>
            <a:r>
              <a:rPr sz="1100" b="1">
                <a:solidFill>
                  <a:srgbClr val="FFFFFF"/>
                </a:solidFill>
                <a:latin typeface="맑은 고딕"/>
              </a:rPr>
              <a:t>09</a:t>
            </a:r>
          </a:p>
        </p:txBody>
      </p:sp>
      <p:sp>
        <p:nvSpPr>
          <p:cNvPr id="4" name="TextBox 3"/>
          <p:cNvSpPr txBox="1"/>
          <p:nvPr/>
        </p:nvSpPr>
        <p:spPr>
          <a:xfrm>
            <a:off x="1188000" y="309600"/>
            <a:ext cx="10969200" cy="396000"/>
          </a:xfrm>
          <a:prstGeom prst="rect">
            <a:avLst/>
          </a:prstGeom>
          <a:noFill/>
        </p:spPr>
        <p:txBody>
          <a:bodyPr wrap="square" lIns="0" rIns="0" tIns="0" bIns="0" anchor="t">
            <a:spAutoFit/>
          </a:bodyPr>
          <a:lstStyle/>
          <a:p>
            <a:pPr algn="l">
              <a:lnSpc>
                <a:spcPct val="130000"/>
              </a:lnSpc>
            </a:pPr>
            <a:r>
              <a:rPr sz="2300" b="1">
                <a:solidFill>
                  <a:srgbClr val="1F4EA8"/>
                </a:solidFill>
                <a:latin typeface="맑은 고딕"/>
              </a:rPr>
              <a:t>테크닉</a:t>
            </a:r>
          </a:p>
        </p:txBody>
      </p:sp>
      <p:sp>
        <p:nvSpPr>
          <p:cNvPr id="5" name="Rectangle 4"/>
          <p:cNvSpPr/>
          <p:nvPr/>
        </p:nvSpPr>
        <p:spPr>
          <a:xfrm>
            <a:off x="612000" y="763200"/>
            <a:ext cx="10969200" cy="18000"/>
          </a:xfrm>
          <a:prstGeom prst="rect">
            <a:avLst/>
          </a:prstGeom>
          <a:solidFill>
            <a:srgbClr val="1F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000" y="1278000"/>
            <a:ext cx="3464400" cy="324000"/>
          </a:xfrm>
          <a:prstGeom prst="rect">
            <a:avLst/>
          </a:prstGeom>
          <a:noFill/>
        </p:spPr>
        <p:txBody>
          <a:bodyPr wrap="square" lIns="0" rIns="0" tIns="0" bIns="0" anchor="t">
            <a:spAutoFit/>
          </a:bodyPr>
          <a:lstStyle/>
          <a:p>
            <a:pPr algn="l">
              <a:lnSpc>
                <a:spcPct val="130000"/>
              </a:lnSpc>
            </a:pPr>
            <a:r>
              <a:rPr sz="1800" b="1">
                <a:solidFill>
                  <a:srgbClr val="1F4EA8"/>
                </a:solidFill>
                <a:latin typeface="맑은 고딕"/>
              </a:rPr>
              <a:t>Strong.</a:t>
            </a:r>
          </a:p>
        </p:txBody>
      </p:sp>
      <p:sp>
        <p:nvSpPr>
          <p:cNvPr id="7" name="Rounded Rectangle 6"/>
          <p:cNvSpPr/>
          <p:nvPr/>
        </p:nvSpPr>
        <p:spPr>
          <a:xfrm>
            <a:off x="612000" y="1746000"/>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92000" y="1746000"/>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캐릭터 페르소나 설계</a:t>
            </a:r>
          </a:p>
        </p:txBody>
      </p:sp>
      <p:sp>
        <p:nvSpPr>
          <p:cNvPr id="9" name="Rounded Rectangle 8"/>
          <p:cNvSpPr/>
          <p:nvPr/>
        </p:nvSpPr>
        <p:spPr>
          <a:xfrm>
            <a:off x="612000" y="2710800"/>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92000" y="2710800"/>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시스템 프롬프트 작성</a:t>
            </a:r>
          </a:p>
        </p:txBody>
      </p:sp>
      <p:sp>
        <p:nvSpPr>
          <p:cNvPr id="11" name="Rounded Rectangle 10"/>
          <p:cNvSpPr/>
          <p:nvPr/>
        </p:nvSpPr>
        <p:spPr>
          <a:xfrm>
            <a:off x="612000" y="3675599"/>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2000" y="3675599"/>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다중 프롬프트 구조 설계</a:t>
            </a:r>
          </a:p>
        </p:txBody>
      </p:sp>
      <p:sp>
        <p:nvSpPr>
          <p:cNvPr id="13" name="Rounded Rectangle 12"/>
          <p:cNvSpPr/>
          <p:nvPr/>
        </p:nvSpPr>
        <p:spPr>
          <a:xfrm>
            <a:off x="612000" y="4640399"/>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2000" y="4640399"/>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Stable Diffusion · forge</a:t>
            </a:r>
          </a:p>
        </p:txBody>
      </p:sp>
      <p:sp>
        <p:nvSpPr>
          <p:cNvPr id="15" name="Rounded Rectangle 14"/>
          <p:cNvSpPr/>
          <p:nvPr/>
        </p:nvSpPr>
        <p:spPr>
          <a:xfrm>
            <a:off x="612000" y="5605198"/>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2000" y="5605198"/>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Claude · Codex · Gemini</a:t>
            </a:r>
          </a:p>
        </p:txBody>
      </p:sp>
      <p:sp>
        <p:nvSpPr>
          <p:cNvPr id="17" name="TextBox 16"/>
          <p:cNvSpPr txBox="1"/>
          <p:nvPr/>
        </p:nvSpPr>
        <p:spPr>
          <a:xfrm>
            <a:off x="4364400" y="1278000"/>
            <a:ext cx="3464400" cy="324000"/>
          </a:xfrm>
          <a:prstGeom prst="rect">
            <a:avLst/>
          </a:prstGeom>
          <a:noFill/>
        </p:spPr>
        <p:txBody>
          <a:bodyPr wrap="square" lIns="0" rIns="0" tIns="0" bIns="0" anchor="t">
            <a:spAutoFit/>
          </a:bodyPr>
          <a:lstStyle/>
          <a:p>
            <a:pPr algn="l">
              <a:lnSpc>
                <a:spcPct val="130000"/>
              </a:lnSpc>
            </a:pPr>
            <a:r>
              <a:rPr sz="1800" b="1">
                <a:solidFill>
                  <a:srgbClr val="1F4EA8"/>
                </a:solidFill>
                <a:latin typeface="맑은 고딕"/>
              </a:rPr>
              <a:t>Knowledgeable.</a:t>
            </a:r>
          </a:p>
        </p:txBody>
      </p:sp>
      <p:sp>
        <p:nvSpPr>
          <p:cNvPr id="18" name="Rounded Rectangle 17"/>
          <p:cNvSpPr/>
          <p:nvPr/>
        </p:nvSpPr>
        <p:spPr>
          <a:xfrm>
            <a:off x="4364400" y="1746000"/>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544400" y="1746000"/>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HTML · CSS · SVG</a:t>
            </a:r>
          </a:p>
        </p:txBody>
      </p:sp>
      <p:sp>
        <p:nvSpPr>
          <p:cNvPr id="20" name="Rounded Rectangle 19"/>
          <p:cNvSpPr/>
          <p:nvPr/>
        </p:nvSpPr>
        <p:spPr>
          <a:xfrm>
            <a:off x="4364400" y="2710800"/>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544400" y="2710800"/>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JavaScript</a:t>
            </a:r>
          </a:p>
        </p:txBody>
      </p:sp>
      <p:sp>
        <p:nvSpPr>
          <p:cNvPr id="22" name="Rounded Rectangle 21"/>
          <p:cNvSpPr/>
          <p:nvPr/>
        </p:nvSpPr>
        <p:spPr>
          <a:xfrm>
            <a:off x="4364400" y="3675599"/>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544400" y="3675599"/>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Python 자동화</a:t>
            </a:r>
          </a:p>
        </p:txBody>
      </p:sp>
      <p:sp>
        <p:nvSpPr>
          <p:cNvPr id="24" name="Rounded Rectangle 23"/>
          <p:cNvSpPr/>
          <p:nvPr/>
        </p:nvSpPr>
        <p:spPr>
          <a:xfrm>
            <a:off x="4364400" y="4640399"/>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544400" y="4640399"/>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Google Gemini Flash API</a:t>
            </a:r>
          </a:p>
        </p:txBody>
      </p:sp>
      <p:sp>
        <p:nvSpPr>
          <p:cNvPr id="26" name="Rounded Rectangle 25"/>
          <p:cNvSpPr/>
          <p:nvPr/>
        </p:nvSpPr>
        <p:spPr>
          <a:xfrm>
            <a:off x="4364400" y="5605198"/>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44400" y="5605198"/>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Unity · C# · C++</a:t>
            </a:r>
          </a:p>
        </p:txBody>
      </p:sp>
      <p:sp>
        <p:nvSpPr>
          <p:cNvPr id="28" name="TextBox 27"/>
          <p:cNvSpPr txBox="1"/>
          <p:nvPr/>
        </p:nvSpPr>
        <p:spPr>
          <a:xfrm>
            <a:off x="8116800" y="1278000"/>
            <a:ext cx="3464400" cy="324000"/>
          </a:xfrm>
          <a:prstGeom prst="rect">
            <a:avLst/>
          </a:prstGeom>
          <a:noFill/>
        </p:spPr>
        <p:txBody>
          <a:bodyPr wrap="square" lIns="0" rIns="0" tIns="0" bIns="0" anchor="t">
            <a:spAutoFit/>
          </a:bodyPr>
          <a:lstStyle/>
          <a:p>
            <a:pPr algn="l">
              <a:lnSpc>
                <a:spcPct val="130000"/>
              </a:lnSpc>
            </a:pPr>
            <a:r>
              <a:rPr sz="1800" b="1">
                <a:solidFill>
                  <a:srgbClr val="1F4EA8"/>
                </a:solidFill>
                <a:latin typeface="맑은 고딕"/>
              </a:rPr>
              <a:t>etc.</a:t>
            </a:r>
          </a:p>
        </p:txBody>
      </p:sp>
      <p:sp>
        <p:nvSpPr>
          <p:cNvPr id="29" name="Rounded Rectangle 28"/>
          <p:cNvSpPr/>
          <p:nvPr/>
        </p:nvSpPr>
        <p:spPr>
          <a:xfrm>
            <a:off x="8116800" y="1746000"/>
            <a:ext cx="3464400" cy="838801"/>
          </a:xfrm>
          <a:prstGeom prst="roundRect">
            <a:avLst>
              <a:gd name="adj" fmla="val 5000"/>
            </a:avLst>
          </a:prstGeom>
          <a:solidFill>
            <a:srgbClr val="F3F6FC"/>
          </a:solidFill>
          <a:ln w="9525">
            <a:solidFill>
              <a:srgbClr val="DDE4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96800" y="1746000"/>
            <a:ext cx="3104400" cy="838801"/>
          </a:xfrm>
          <a:prstGeom prst="rect">
            <a:avLst/>
          </a:prstGeom>
          <a:noFill/>
        </p:spPr>
        <p:txBody>
          <a:bodyPr wrap="square" lIns="0" rIns="0" tIns="0" bIns="0" anchor="ctr">
            <a:spAutoFit/>
          </a:bodyPr>
          <a:lstStyle/>
          <a:p>
            <a:pPr algn="l">
              <a:lnSpc>
                <a:spcPct val="130000"/>
              </a:lnSpc>
            </a:pPr>
            <a:r>
              <a:rPr sz="1300" b="1">
                <a:solidFill>
                  <a:srgbClr val="1B1E23"/>
                </a:solidFill>
                <a:latin typeface="맑은 고딕"/>
              </a:rPr>
              <a:t>Git · 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